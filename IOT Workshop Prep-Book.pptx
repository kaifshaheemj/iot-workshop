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hyperlink" Target="https://kla-my.sharepoint.com/personal/nithish_rajavel_kla_com/Documents/Microsoft%20Copilot%20Chat%20Files/Anna%20university%20hardware%20session%20plan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hyperlink" Target="http://www.arduino.cc/en/software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3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hyperlink" Target="https://esp32s.com/blog/the-complete-2026-guide-to-installing-esp32-board-in-arduino-ide-windows-mac-linux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labs.com/software-and-tools/usb-to-uart-bridge-vcp-drivers?tab=downloads." TargetMode="External"/><Relationship Id="rId2" Type="http://schemas.openxmlformats.org/officeDocument/2006/relationships/hyperlink" Target="https://robocraze.com/blogs/post/guide-to-installing-esp32-drivers-and-setting-up-arduino-id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5.svg"/><Relationship Id="rId2" Type="http://schemas.openxmlformats.org/officeDocument/2006/relationships/image" Target="../media/image12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11" Type="http://schemas.openxmlformats.org/officeDocument/2006/relationships/image" Target="../media/image19.png"/><Relationship Id="rId5" Type="http://schemas.openxmlformats.org/officeDocument/2006/relationships/image" Target="../media/image29.png"/><Relationship Id="rId15" Type="http://schemas.openxmlformats.org/officeDocument/2006/relationships/hyperlink" Target="https://docs.espressif.com/projects/arduino-esp32/en/latest/installing.html" TargetMode="External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4.png"/><Relationship Id="rId18" Type="http://schemas.openxmlformats.org/officeDocument/2006/relationships/hyperlink" Target="https://docs.espressif.com/projects/arduino-esp32/en/latest/installing.html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17" Type="http://schemas.openxmlformats.org/officeDocument/2006/relationships/hyperlink" Target="https://electricalflux.com/mcu-general/esp-32-arduino-board-manager-config" TargetMode="External"/><Relationship Id="rId2" Type="http://schemas.openxmlformats.org/officeDocument/2006/relationships/image" Target="../media/image39.png"/><Relationship Id="rId16" Type="http://schemas.openxmlformats.org/officeDocument/2006/relationships/image" Target="../media/image52.sv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1.png"/><Relationship Id="rId10" Type="http://schemas.openxmlformats.org/officeDocument/2006/relationships/image" Target="../media/image47.svg"/><Relationship Id="rId19" Type="http://schemas.openxmlformats.org/officeDocument/2006/relationships/image" Target="../media/image53.png"/><Relationship Id="rId4" Type="http://schemas.openxmlformats.org/officeDocument/2006/relationships/image" Target="../media/image41.svg"/><Relationship Id="rId9" Type="http://schemas.openxmlformats.org/officeDocument/2006/relationships/image" Target="../media/image46.png"/><Relationship Id="rId14" Type="http://schemas.openxmlformats.org/officeDocument/2006/relationships/image" Target="../media/image5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91200" y="3372594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78275" y="1984424"/>
            <a:ext cx="323499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27" b="0" i="0">
                <a:solidFill>
                  <a:srgbClr val="FFFFFF"/>
                </a:solidFill>
                <a:latin typeface="Century Gothic"/>
              </a:rPr>
              <a:t>Anna University IoT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9846" y="2376725"/>
            <a:ext cx="7531854" cy="7905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736" b="0" i="0">
                <a:solidFill>
                  <a:srgbClr val="FFFFFF"/>
                </a:solidFill>
                <a:latin typeface="Century Gothic"/>
              </a:rPr>
              <a:t>IOT Workshop Prep-Book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6380" y="3642923"/>
            <a:ext cx="4818785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2" b="0" i="0">
                <a:solidFill>
                  <a:srgbClr val="FFFFFF"/>
                </a:solidFill>
                <a:latin typeface="Century Gothic"/>
              </a:rPr>
              <a:t>Your Pre-Workshop Setup Guide — Get Ready to Build!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6810" y="4160981"/>
            <a:ext cx="5738073" cy="678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7" b="0" i="0">
                <a:solidFill>
                  <a:srgbClr val="FFFFFF"/>
                </a:solidFill>
                <a:latin typeface="Century Gothic"/>
              </a:rPr>
              <a:t>Hi guys! Super excited to have you all at the workshop. This guide walks you through everything — step by step — so on workshop day you just plug in your ESP32 and start coding. No stress, promise!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439" y="6222348"/>
            <a:ext cx="316281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4" b="0" i="0">
                <a:solidFill>
                  <a:srgbClr val="FFFFFF"/>
                </a:solidFill>
                <a:latin typeface="Century Gothic"/>
              </a:rPr>
              <a:t>Anna University IoT Workshop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96180" y="1180802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580" y="1295102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125" y="1424487"/>
            <a:ext cx="152396" cy="1066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3350" y="5113235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5750" y="5227535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295" y="5334011"/>
            <a:ext cx="152396" cy="1523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6170" y="2171949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570" y="2286249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973" y="2415585"/>
            <a:ext cx="152369" cy="1066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33350" y="3166941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5750" y="3281241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295" y="3387673"/>
            <a:ext cx="152396" cy="1523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33360" y="4158088"/>
            <a:ext cx="5646390" cy="640556"/>
          </a:xfrm>
          <a:prstGeom prst="roundRect">
            <a:avLst>
              <a:gd name="adj" fmla="val 1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5760" y="4272388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549" y="4387287"/>
            <a:ext cx="139711" cy="13547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6170" y="344677"/>
            <a:ext cx="5349195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55" b="0" i="0">
                <a:solidFill>
                  <a:srgbClr val="2C46FB"/>
                </a:solidFill>
                <a:latin typeface="Century Gothic"/>
              </a:rPr>
              <a:t>What You Will Need Before You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525" y="1304594"/>
            <a:ext cx="160641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Your Windows Laptop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525" y="1538695"/>
            <a:ext cx="268523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 dirty="0">
                <a:solidFill>
                  <a:srgbClr val="555555"/>
                </a:solidFill>
                <a:latin typeface="Century Gothic"/>
              </a:rPr>
              <a:t>Windows 10 or Windows 11 — both are fine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695" y="5236978"/>
            <a:ext cx="3499356" cy="173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 dirty="0">
                <a:solidFill>
                  <a:srgbClr val="333333"/>
                </a:solidFill>
                <a:latin typeface="Century Gothic"/>
              </a:rPr>
              <a:t>Your ESP32 Development Board</a:t>
            </a:r>
            <a:r>
              <a:rPr sz="1127" b="0" i="0" dirty="0">
                <a:solidFill>
                  <a:srgbClr val="2840E5"/>
                </a:solidFill>
                <a:latin typeface="Century Gothic"/>
              </a:rPr>
              <a:t> </a:t>
            </a:r>
            <a:r>
              <a:rPr lang="en-US" sz="1127" b="0" i="0" dirty="0">
                <a:solidFill>
                  <a:srgbClr val="2840E5"/>
                </a:solidFill>
                <a:latin typeface="Century Gothic"/>
              </a:rPr>
              <a:t>(Will be provided)</a:t>
            </a:r>
            <a:endParaRPr sz="1127" b="0" i="0" dirty="0">
              <a:solidFill>
                <a:srgbClr val="2840E5"/>
              </a:solidFill>
              <a:latin typeface="Century Gothic"/>
              <a:hlinkClick r:id="rId12" tooltip="Anna university hardware session plan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5695" y="5471079"/>
            <a:ext cx="2228174" cy="1472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 dirty="0">
                <a:solidFill>
                  <a:srgbClr val="555555"/>
                </a:solidFill>
                <a:latin typeface="Century Gothic"/>
              </a:rPr>
              <a:t>30-pin ESP32 with Micro-USB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371" y="2295692"/>
            <a:ext cx="215408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 Stable Internet Connection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371" y="2529793"/>
            <a:ext cx="333679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Needed to download software and board packages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695" y="3290639"/>
            <a:ext cx="2333972" cy="173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 dirty="0">
                <a:solidFill>
                  <a:srgbClr val="333333"/>
                </a:solidFill>
                <a:latin typeface="Century Gothic"/>
              </a:rPr>
              <a:t>About </a:t>
            </a:r>
            <a:r>
              <a:rPr lang="en-US" sz="1127" dirty="0">
                <a:solidFill>
                  <a:srgbClr val="333333"/>
                </a:solidFill>
                <a:latin typeface="Century Gothic"/>
              </a:rPr>
              <a:t>20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–</a:t>
            </a:r>
            <a:r>
              <a:rPr lang="en-US" sz="1127" b="0" i="0" dirty="0">
                <a:solidFill>
                  <a:srgbClr val="333333"/>
                </a:solidFill>
                <a:latin typeface="Century Gothic"/>
              </a:rPr>
              <a:t>25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 Minutes of Free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695" y="3524740"/>
            <a:ext cx="376272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>
                <a:solidFill>
                  <a:srgbClr val="555555"/>
                </a:solidFill>
                <a:latin typeface="Century Gothic"/>
              </a:rPr>
              <a:t>Set aside some time to go through this guide without rushing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561" y="4281786"/>
            <a:ext cx="160789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You're Ready to Build!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561" y="4515887"/>
            <a:ext cx="3786092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 dirty="0">
                <a:solidFill>
                  <a:srgbClr val="555555"/>
                </a:solidFill>
                <a:latin typeface="Century Gothic"/>
              </a:rPr>
              <a:t>Once these are sorted, the fun part begins on workshop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737443"/>
            <a:ext cx="5715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34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386" y="1933377"/>
            <a:ext cx="213265" cy="2132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766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290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5572" y="1933377"/>
            <a:ext cx="159949" cy="2132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246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1106" y="1933377"/>
            <a:ext cx="199936" cy="21209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67800" y="1230659"/>
            <a:ext cx="2743200" cy="485715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20200" y="1413420"/>
            <a:ext cx="365670" cy="36567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19969" y="1933377"/>
            <a:ext cx="213265" cy="21326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1000" y="6209704"/>
            <a:ext cx="11430000" cy="419695"/>
          </a:xfrm>
          <a:prstGeom prst="roundRect">
            <a:avLst>
              <a:gd name="adj" fmla="val 27234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9930" y="6335603"/>
            <a:ext cx="115208" cy="167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0990" y="314317"/>
            <a:ext cx="5665000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Step 1 — Download and Install Arduino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990" y="906935"/>
            <a:ext cx="8112269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Arduino IDE 2.x is the modern standard — download it once and you are set for the entire workshop.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876" y="1500894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86" y="2278055"/>
            <a:ext cx="2237426" cy="8672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7" b="0" i="0" dirty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1127" b="0" i="0" dirty="0">
                <a:solidFill>
                  <a:srgbClr val="2C46FB"/>
                </a:solidFill>
                <a:latin typeface="Century Gothic"/>
              </a:rPr>
              <a:t> </a:t>
            </a:r>
            <a:r>
              <a:rPr lang="en-US" sz="1127" b="0" i="0" dirty="0">
                <a:solidFill>
                  <a:srgbClr val="2C46FB"/>
                </a:solidFill>
                <a:latin typeface="Century Gothic"/>
                <a:hlinkClick r:id="rId13"/>
              </a:rPr>
              <a:t>http://www.arduino.cc/en/software</a:t>
            </a:r>
            <a:r>
              <a:rPr lang="en-US" sz="1127" b="0" i="0" dirty="0">
                <a:solidFill>
                  <a:srgbClr val="2C46FB"/>
                </a:solidFill>
                <a:latin typeface="Century Gothic"/>
              </a:rPr>
              <a:t> 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and download the latest</a:t>
            </a:r>
            <a:r>
              <a:rPr sz="1127" b="0" i="0" dirty="0">
                <a:solidFill>
                  <a:srgbClr val="2C46FB"/>
                </a:solidFill>
                <a:latin typeface="Century Gothic"/>
              </a:rPr>
              <a:t> Arduino IDE 2.x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 installer for Windows</a:t>
            </a:r>
            <a:r>
              <a:rPr lang="en-US" sz="1127" dirty="0">
                <a:solidFill>
                  <a:srgbClr val="2840E5"/>
                </a:solidFill>
                <a:latin typeface="Century Gothic"/>
              </a:rPr>
              <a:t>.</a:t>
            </a:r>
            <a:endParaRPr sz="1127" b="0" i="0" dirty="0">
              <a:solidFill>
                <a:srgbClr val="2840E5"/>
              </a:solidFill>
              <a:latin typeface="Century Gothic"/>
              <a:hlinkClick r:id="rId14" tooltip="How to Install ESP32 in Arduino IDE (2026): Complete 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9404" y="1500894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8914" y="2278055"/>
            <a:ext cx="2372409" cy="419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Run the downloaded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.exe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file — click through the install wizard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8914" y="2786588"/>
            <a:ext cx="2289365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3" b="0" i="0">
                <a:solidFill>
                  <a:srgbClr val="B36200"/>
                </a:solidFill>
                <a:latin typeface="Microsoft YaHei"/>
              </a:rPr>
              <a:t>Next → Agree → Install → Finish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932" y="1500894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1" y="2278055"/>
            <a:ext cx="2234747" cy="647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When Windows asks about allowing app changes — click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0459" y="1500894"/>
            <a:ext cx="9144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9969" y="2278055"/>
            <a:ext cx="2381041" cy="647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Launch</a:t>
            </a:r>
            <a:r>
              <a:rPr sz="1127" b="0" i="0">
                <a:solidFill>
                  <a:srgbClr val="2C46FB"/>
                </a:solidFill>
                <a:latin typeface="Century Gothic"/>
              </a:rPr>
              <a:t> Arduino IDE</a:t>
            </a:r>
            <a:r>
              <a:rPr sz="1127" b="0" i="0">
                <a:solidFill>
                  <a:srgbClr val="333333"/>
                </a:solidFill>
                <a:latin typeface="Century Gothic"/>
              </a:rPr>
              <a:t> — if it opens without errors, you are good to move on!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881" y="6318042"/>
            <a:ext cx="5713102" cy="173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0" b="0" i="0" dirty="0">
                <a:solidFill>
                  <a:srgbClr val="FFFFFF"/>
                </a:solidFill>
                <a:latin typeface="Century Gothic"/>
              </a:rPr>
              <a:t>Pro tip: As of 2026, Arduino IDE 2.x is the recommended standard for all ESP32 projects</a:t>
            </a:r>
            <a:r>
              <a:rPr lang="en-US" sz="1127" dirty="0">
                <a:solidFill>
                  <a:srgbClr val="FFD5A2"/>
                </a:solidFill>
                <a:latin typeface="Century Gothic"/>
              </a:rPr>
              <a:t>.</a:t>
            </a:r>
            <a:endParaRPr sz="1127" b="0" i="0" dirty="0">
              <a:solidFill>
                <a:srgbClr val="FFD5A2"/>
              </a:solidFill>
              <a:latin typeface="Century Gothic"/>
              <a:hlinkClick r:id="rId14" tooltip="How to Install ESP32 in Arduino IDE (2026): Complete 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EBAC5FB-C01A-019C-AAF7-8DCC57D149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604" y="3429000"/>
            <a:ext cx="2354301" cy="12758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3B45EFA-1E96-1DE5-54DC-A05155D447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0459" y="3252024"/>
            <a:ext cx="2218151" cy="12547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7212" y="1449438"/>
            <a:ext cx="45719" cy="4090540"/>
          </a:xfrm>
          <a:prstGeom prst="roundRect">
            <a:avLst>
              <a:gd name="adj" fmla="val 50000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266676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6800" y="1380827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355949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6800" y="2470100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445222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1066800" y="3559373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4534495"/>
            <a:ext cx="10896600" cy="1005482"/>
          </a:xfrm>
          <a:prstGeom prst="roundRect">
            <a:avLst>
              <a:gd name="adj" fmla="val 113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1066800" y="4648646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0990" y="516123"/>
            <a:ext cx="4509248" cy="312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029" b="0" i="0" dirty="0">
                <a:solidFill>
                  <a:srgbClr val="333333"/>
                </a:solidFill>
                <a:latin typeface="Century Gothic"/>
              </a:rPr>
              <a:t>Step 2 - </a:t>
            </a:r>
            <a:r>
              <a:rPr sz="2029" b="0" i="0" dirty="0">
                <a:solidFill>
                  <a:srgbClr val="333333"/>
                </a:solidFill>
                <a:latin typeface="Century Gothic"/>
              </a:rPr>
              <a:t>Install the CP2102 USB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990" y="950541"/>
            <a:ext cx="652728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1">
                <a:solidFill>
                  <a:srgbClr val="2C46FB"/>
                </a:solidFill>
                <a:latin typeface="Century Gothic"/>
              </a:rPr>
              <a:t>Without this driver, your laptop will never see your ESP32 — this is the most important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8986" y="1447466"/>
            <a:ext cx="914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3452" y="1375137"/>
            <a:ext cx="7556556" cy="173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 dirty="0">
                <a:solidFill>
                  <a:srgbClr val="333333"/>
                </a:solidFill>
                <a:latin typeface="Century Gothic"/>
              </a:rPr>
              <a:t>Most ESP32 boards use a</a:t>
            </a:r>
            <a:r>
              <a:rPr sz="1115" b="1" i="0" dirty="0">
                <a:solidFill>
                  <a:srgbClr val="333333"/>
                </a:solidFill>
                <a:latin typeface="Century Gothic"/>
              </a:rPr>
              <a:t> CP210x USB-to-UART bridge chip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 (Silicon Labs) to communicate with your laptop.</a:t>
            </a:r>
            <a:endParaRPr sz="1127" b="0" i="0" dirty="0">
              <a:solidFill>
                <a:srgbClr val="2840E5"/>
              </a:solidFill>
              <a:latin typeface="Century Gothic"/>
              <a:hlinkClick r:id="rId2" tooltip="Guide to Installing ESP32 Drivers and Setting Up Ardu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8986" y="2536711"/>
            <a:ext cx="914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3452" y="2464383"/>
            <a:ext cx="7877156" cy="173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 dirty="0">
                <a:solidFill>
                  <a:srgbClr val="333333"/>
                </a:solidFill>
                <a:latin typeface="Century Gothic"/>
              </a:rPr>
              <a:t>If the driver is missing, your board will</a:t>
            </a:r>
            <a:r>
              <a:rPr sz="1115" b="1" i="0" dirty="0">
                <a:solidFill>
                  <a:srgbClr val="333333"/>
                </a:solidFill>
                <a:latin typeface="Century Gothic"/>
              </a:rPr>
              <a:t> not appear in Device Manager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 and no COM port will show in Arduino IDE.</a:t>
            </a:r>
            <a:endParaRPr sz="1127" b="0" i="0" dirty="0">
              <a:solidFill>
                <a:srgbClr val="2840E5"/>
              </a:solidFill>
              <a:latin typeface="Century Gothic"/>
              <a:hlinkClick r:id="rId2" tooltip="Guide to Installing ESP32 Drivers and Setting Up Ardu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78986" y="3625957"/>
            <a:ext cx="914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3452" y="3574464"/>
            <a:ext cx="6772688" cy="173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7" b="0" i="0" dirty="0">
                <a:solidFill>
                  <a:srgbClr val="333333"/>
                </a:solidFill>
                <a:latin typeface="Century Gothic"/>
              </a:rPr>
              <a:t>Download the driver: go to</a:t>
            </a:r>
            <a:r>
              <a:rPr lang="en-US" sz="957" b="0" i="0" dirty="0">
                <a:solidFill>
                  <a:srgbClr val="2C46FB"/>
                </a:solidFill>
                <a:latin typeface="Century Gothic"/>
              </a:rPr>
              <a:t> </a:t>
            </a:r>
            <a:r>
              <a:rPr lang="en-US" sz="957" dirty="0">
                <a:solidFill>
                  <a:srgbClr val="2C46FB"/>
                </a:solidFill>
                <a:latin typeface="Century Gothic"/>
                <a:hlinkClick r:id="rId3"/>
              </a:rPr>
              <a:t>SILABS.COM</a:t>
            </a:r>
            <a:r>
              <a:rPr lang="en-US" sz="957" dirty="0">
                <a:solidFill>
                  <a:srgbClr val="2C46FB"/>
                </a:solidFill>
                <a:latin typeface="Century Gothic"/>
              </a:rPr>
              <a:t> </a:t>
            </a:r>
            <a:r>
              <a:rPr lang="en-US" sz="957" dirty="0">
                <a:latin typeface="Century Gothic"/>
              </a:rPr>
              <a:t>(Link is embedded in this text) and download the package named :  </a:t>
            </a:r>
            <a:endParaRPr sz="983" b="0" i="0" dirty="0"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8986" y="4715203"/>
            <a:ext cx="914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0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3452" y="4642874"/>
            <a:ext cx="5224187" cy="3468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127" dirty="0">
                <a:solidFill>
                  <a:srgbClr val="333333"/>
                </a:solidFill>
                <a:latin typeface="Century Gothic"/>
              </a:rPr>
              <a:t>Extract the contents of the zip file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,</a:t>
            </a:r>
            <a:r>
              <a:rPr lang="en-US" sz="1127" b="0" i="0" dirty="0">
                <a:solidFill>
                  <a:srgbClr val="333333"/>
                </a:solidFill>
                <a:latin typeface="Century Gothic"/>
              </a:rPr>
              <a:t> right click silabser.inf and click on install </a:t>
            </a:r>
          </a:p>
          <a:p>
            <a:pPr algn="l"/>
            <a:r>
              <a:rPr lang="en-US" sz="1127" b="0" i="0" dirty="0">
                <a:solidFill>
                  <a:srgbClr val="333333"/>
                </a:solidFill>
                <a:latin typeface="Century Gothic"/>
              </a:rPr>
              <a:t>Agree to the upcoming dialog boxes</a:t>
            </a:r>
            <a:r>
              <a:rPr sz="1127" b="0" i="0" dirty="0">
                <a:solidFill>
                  <a:srgbClr val="333333"/>
                </a:solidFill>
                <a:latin typeface="Century Gothic"/>
              </a:rPr>
              <a:t>.</a:t>
            </a:r>
            <a:r>
              <a:rPr lang="en-US" sz="1127" b="0" i="0" dirty="0">
                <a:solidFill>
                  <a:srgbClr val="333333"/>
                </a:solidFill>
                <a:latin typeface="Century Gothic"/>
              </a:rPr>
              <a:t> Restart your laptop</a:t>
            </a:r>
            <a:endParaRPr sz="1127" b="0" i="0" dirty="0">
              <a:solidFill>
                <a:srgbClr val="333333"/>
              </a:solidFill>
              <a:latin typeface="Century Gothic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9D9D5F0-ACE1-3863-652A-97E4E74FC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285" y="3845124"/>
            <a:ext cx="3356511" cy="43909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B1700408-CC8A-8BBC-B572-9A2052D14706}"/>
              </a:ext>
            </a:extLst>
          </p:cNvPr>
          <p:cNvGrpSpPr/>
          <p:nvPr/>
        </p:nvGrpSpPr>
        <p:grpSpPr>
          <a:xfrm>
            <a:off x="7310802" y="4393207"/>
            <a:ext cx="3966798" cy="2396234"/>
            <a:chOff x="1499546" y="561575"/>
            <a:chExt cx="9192908" cy="573485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0CCFA87-9EEA-96CE-1EE0-EE3EFCC0C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9546" y="561575"/>
              <a:ext cx="9192908" cy="573485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8F61101-B7E1-080A-014B-97C5AD1699FA}"/>
                </a:ext>
              </a:extLst>
            </p:cNvPr>
            <p:cNvSpPr/>
            <p:nvPr/>
          </p:nvSpPr>
          <p:spPr>
            <a:xfrm>
              <a:off x="2830882" y="3012510"/>
              <a:ext cx="3144033" cy="348921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737443"/>
            <a:ext cx="571500" cy="28575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3400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386" y="1816385"/>
            <a:ext cx="198072" cy="1540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69009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21409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6841" y="1820636"/>
            <a:ext cx="187051" cy="1455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421409" y="2988195"/>
            <a:ext cx="2461319" cy="756939"/>
          </a:xfrm>
          <a:prstGeom prst="roundRect">
            <a:avLst>
              <a:gd name="adj" fmla="val 15100"/>
            </a:avLst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4080" y="3361943"/>
            <a:ext cx="152396" cy="1523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57019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09419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1642" y="1806756"/>
            <a:ext cx="173324" cy="1733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45029" y="1230659"/>
            <a:ext cx="2766119" cy="5398740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97429" y="1383059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97199" y="1794375"/>
            <a:ext cx="198085" cy="19808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197429" y="3257847"/>
            <a:ext cx="2461319" cy="971847"/>
          </a:xfrm>
          <a:prstGeom prst="roundRect">
            <a:avLst>
              <a:gd name="adj" fmla="val 98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54357" y="3356734"/>
            <a:ext cx="104772" cy="1523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0990" y="314317"/>
            <a:ext cx="5902971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29" b="0" i="0">
                <a:solidFill>
                  <a:srgbClr val="333333"/>
                </a:solidFill>
                <a:latin typeface="Century Gothic"/>
              </a:rPr>
              <a:t>Step 3 — Add the ESP32 Board Manager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906935"/>
            <a:ext cx="5487155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39" b="0" i="0">
                <a:solidFill>
                  <a:srgbClr val="2C46FB"/>
                </a:solidFill>
                <a:latin typeface="Century Gothic"/>
              </a:rPr>
              <a:t>This one URL is the key that unlocks ESP32 support inside Arduino 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" y="1454460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386" y="2083839"/>
            <a:ext cx="131292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Open Preferences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386" y="2316898"/>
            <a:ext cx="2311391" cy="336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 dirty="0">
                <a:solidFill>
                  <a:srgbClr val="333333"/>
                </a:solidFill>
                <a:latin typeface="Microsoft YaHei"/>
              </a:rPr>
              <a:t>Open Arduino IDE → go to</a:t>
            </a:r>
            <a:r>
              <a:rPr sz="1059" b="1" i="0" dirty="0">
                <a:solidFill>
                  <a:srgbClr val="333333"/>
                </a:solidFill>
                <a:latin typeface="Century Gothic"/>
              </a:rPr>
              <a:t> </a:t>
            </a:r>
            <a:r>
              <a:rPr sz="945" b="1" i="0" dirty="0">
                <a:solidFill>
                  <a:srgbClr val="333333"/>
                </a:solidFill>
                <a:latin typeface="Microsoft YaHei"/>
              </a:rPr>
              <a:t>File → Preferences</a:t>
            </a:r>
            <a:r>
              <a:rPr lang="en-US" sz="1127" dirty="0">
                <a:solidFill>
                  <a:srgbClr val="2840E5"/>
                </a:solidFill>
                <a:latin typeface="Century Gothic"/>
              </a:rPr>
              <a:t>.</a:t>
            </a:r>
            <a:endParaRPr sz="1127" b="0" i="0" dirty="0">
              <a:solidFill>
                <a:srgbClr val="2840E5"/>
              </a:solidFill>
              <a:latin typeface="Century Gothic"/>
              <a:hlinkClick r:id="rId15" tooltip="Installing - - — Arduino ESP32 latest documenta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35621" y="1454460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1324" y="2083839"/>
            <a:ext cx="93670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Paste the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1538" y="2344341"/>
            <a:ext cx="1961059" cy="502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70" b="0" i="0" dirty="0">
                <a:solidFill>
                  <a:srgbClr val="333333"/>
                </a:solidFill>
                <a:latin typeface="Century Gothic"/>
              </a:rPr>
              <a:t>Find</a:t>
            </a:r>
            <a:r>
              <a:rPr sz="1059" b="1" i="0" dirty="0">
                <a:solidFill>
                  <a:srgbClr val="333333"/>
                </a:solidFill>
                <a:latin typeface="Century Gothic"/>
              </a:rPr>
              <a:t> "Additional boards manager URLs"</a:t>
            </a:r>
            <a:r>
              <a:rPr sz="1070" b="0" i="0" dirty="0">
                <a:solidFill>
                  <a:srgbClr val="333333"/>
                </a:solidFill>
                <a:latin typeface="Century Gothic"/>
              </a:rPr>
              <a:t> and paste this URL exactly:</a:t>
            </a:r>
            <a:endParaRPr sz="1127" b="0" i="0" dirty="0">
              <a:solidFill>
                <a:srgbClr val="2840E5"/>
              </a:solidFill>
              <a:latin typeface="Century Gothic"/>
              <a:hlinkClick r:id="rId15" tooltip="Installing - - — Arduino ESP32 latest documenta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02165" y="3246039"/>
            <a:ext cx="2034874" cy="294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7" b="0" i="0" dirty="0">
                <a:solidFill>
                  <a:srgbClr val="FFFFFF"/>
                </a:solidFill>
                <a:latin typeface="Century Gothic"/>
              </a:rPr>
              <a:t>https://espressif.github.io/arduino-esp32/package_esp32_index.json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3558" y="1454460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261" y="2083839"/>
            <a:ext cx="97048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Save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261" y="2316898"/>
            <a:ext cx="23752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Click</a:t>
            </a:r>
            <a:r>
              <a:rPr sz="1059" b="1" i="0">
                <a:solidFill>
                  <a:srgbClr val="333333"/>
                </a:solidFill>
                <a:latin typeface="Century Gothic"/>
              </a:rPr>
              <a:t> OK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to save your preferences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1496" y="1454460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7199" y="2083839"/>
            <a:ext cx="76763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7" b="0" i="0">
                <a:solidFill>
                  <a:srgbClr val="2C46FB"/>
                </a:solidFill>
                <a:latin typeface="Century Gothic"/>
              </a:rPr>
              <a:t>You're Set!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1496" y="2316898"/>
            <a:ext cx="2207809" cy="658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70" b="0" i="0" dirty="0">
                <a:solidFill>
                  <a:srgbClr val="333333"/>
                </a:solidFill>
                <a:latin typeface="Century Gothic"/>
              </a:rPr>
              <a:t>Arduino IDE now knows where to find the ESP32 board package — like telling Arduino where to go shopping for ESP32 stuff!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270" y="3360603"/>
            <a:ext cx="1923853" cy="765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Next up: we'll actually download and install the ESP32 board package in Step 4.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AB69959-43BC-41B1-5371-9066BC27CD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027" y="2862772"/>
            <a:ext cx="2640062" cy="17801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20401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34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731" y="1714326"/>
            <a:ext cx="119933" cy="102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6990" y="3760409"/>
            <a:ext cx="68547" cy="1199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0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8956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766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60306" y="1697193"/>
            <a:ext cx="137060" cy="13708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130" y="3760409"/>
            <a:ext cx="68547" cy="11997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105400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2578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388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22447" y="1697193"/>
            <a:ext cx="137067" cy="13706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1271" y="3760409"/>
            <a:ext cx="68547" cy="11997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467599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200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010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01721" y="1697193"/>
            <a:ext cx="102827" cy="13706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3412" y="3760409"/>
            <a:ext cx="68547" cy="11997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846424" y="1445865"/>
            <a:ext cx="1981348" cy="4597003"/>
          </a:xfrm>
          <a:prstGeom prst="roundRect">
            <a:avLst>
              <a:gd name="adj" fmla="val 7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dirty="0"/>
          </a:p>
        </p:txBody>
      </p:sp>
      <p:sp>
        <p:nvSpPr>
          <p:cNvPr id="25" name="Oval 24"/>
          <p:cNvSpPr/>
          <p:nvPr/>
        </p:nvSpPr>
        <p:spPr>
          <a:xfrm>
            <a:off x="9982200" y="1613445"/>
            <a:ext cx="304800" cy="30480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63200" y="1613445"/>
            <a:ext cx="304800" cy="304800"/>
          </a:xfrm>
          <a:prstGeom prst="ellipse">
            <a:avLst/>
          </a:prstGeom>
          <a:solidFill>
            <a:srgbClr val="747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46728" y="1697193"/>
            <a:ext cx="137067" cy="137067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629" y="6332180"/>
            <a:ext cx="83797" cy="12188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0990" y="506598"/>
            <a:ext cx="5019003" cy="312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029" b="0" i="0" dirty="0">
                <a:solidFill>
                  <a:srgbClr val="333333"/>
                </a:solidFill>
                <a:latin typeface="Century Gothic"/>
              </a:rPr>
              <a:t>Step 4 - </a:t>
            </a:r>
            <a:r>
              <a:rPr sz="2029" b="0" i="0" dirty="0">
                <a:solidFill>
                  <a:srgbClr val="333333"/>
                </a:solidFill>
                <a:latin typeface="Century Gothic"/>
              </a:rPr>
              <a:t>Install the ESP32 Board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990" y="918246"/>
            <a:ext cx="694087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2C46FB"/>
                </a:solidFill>
                <a:latin typeface="Century Gothic"/>
              </a:rPr>
              <a:t>Installing the board package is what lets Arduino IDE compile and upload code to your ESP32.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" y="1684841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386" y="2268530"/>
            <a:ext cx="1542267" cy="3259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91" b="0" i="0" dirty="0">
                <a:solidFill>
                  <a:srgbClr val="333333"/>
                </a:solidFill>
                <a:latin typeface="Century Gothic"/>
              </a:rPr>
              <a:t>Go to</a:t>
            </a:r>
            <a:r>
              <a:rPr sz="906" b="0" i="0" dirty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sz="766" b="0" i="0" dirty="0">
                <a:solidFill>
                  <a:srgbClr val="2C46FB"/>
                </a:solidFill>
                <a:highlight>
                  <a:srgbClr val="EEF3FF"/>
                </a:highlight>
                <a:latin typeface="Microsoft YaHei"/>
              </a:rPr>
              <a:t>Tools → Board → Boards Manager</a:t>
            </a:r>
            <a:r>
              <a:rPr lang="en-US" sz="1127" dirty="0">
                <a:solidFill>
                  <a:srgbClr val="2840E5"/>
                </a:solidFill>
                <a:highlight>
                  <a:srgbClr val="EEF3FF"/>
                </a:highlight>
                <a:latin typeface="Century Gothic"/>
              </a:rPr>
              <a:t>.</a:t>
            </a:r>
            <a:endParaRPr sz="1127" b="0" i="0" dirty="0">
              <a:solidFill>
                <a:srgbClr val="2840E5"/>
              </a:solidFill>
              <a:latin typeface="Century Gothic"/>
              <a:hlinkClick r:id="rId17" tooltip="Complete ESP 32 Arduino IDE Setup &amp; Configuration Guid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3386" y="2019100"/>
            <a:ext cx="142960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Open Boards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9824" y="1684841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5527" y="2268530"/>
            <a:ext cx="1626369" cy="291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91" b="0" i="0" dirty="0">
                <a:solidFill>
                  <a:srgbClr val="333333"/>
                </a:solidFill>
                <a:latin typeface="Century Gothic"/>
              </a:rPr>
              <a:t>In the search box, type</a:t>
            </a:r>
            <a:endParaRPr lang="en-US" sz="991" b="0" i="0" dirty="0">
              <a:solidFill>
                <a:srgbClr val="333333"/>
              </a:solidFill>
              <a:latin typeface="Century Gothic"/>
            </a:endParaRPr>
          </a:p>
          <a:p>
            <a:pPr algn="l"/>
            <a:r>
              <a:rPr sz="906" b="0" i="0" dirty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esp32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5527" y="2019100"/>
            <a:ext cx="102287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Search for ESP32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1965" y="1684841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668" y="2268530"/>
            <a:ext cx="1646444" cy="6042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91" b="0" i="0">
                <a:solidFill>
                  <a:srgbClr val="333333"/>
                </a:solidFill>
                <a:latin typeface="Century Gothic"/>
              </a:rPr>
              <a:t>Find</a:t>
            </a:r>
            <a:r>
              <a:rPr sz="906" b="0" i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esp32 by Espressif Systems</a:t>
            </a:r>
            <a:r>
              <a:rPr sz="991" b="0" i="0">
                <a:solidFill>
                  <a:srgbClr val="333333"/>
                </a:solidFill>
                <a:latin typeface="Century Gothic"/>
              </a:rPr>
              <a:t> </a:t>
            </a:r>
            <a:r>
              <a:rPr sz="865" b="0" i="0">
                <a:solidFill>
                  <a:srgbClr val="333333"/>
                </a:solidFill>
                <a:latin typeface="Microsoft YaHei"/>
              </a:rPr>
              <a:t>→ click Install</a:t>
            </a:r>
            <a:r>
              <a:rPr sz="1127" b="0" i="0">
                <a:solidFill>
                  <a:srgbClr val="2840E5"/>
                </a:solidFill>
                <a:latin typeface="Century Gothic"/>
              </a:rPr>
              <a:t> </a:t>
            </a:r>
            <a:r>
              <a:rPr sz="1127" b="0" i="0">
                <a:solidFill>
                  <a:srgbClr val="2840E5"/>
                </a:solidFill>
                <a:latin typeface="Century Gothic"/>
                <a:hlinkClick r:id="rId18" tooltip="Installing - - — Arduino ESP32 latest docum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668" y="2019100"/>
            <a:ext cx="1198929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Install the Package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4106" y="1684841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9809" y="2268530"/>
            <a:ext cx="1567865" cy="457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91" b="0" i="0" dirty="0">
                <a:solidFill>
                  <a:srgbClr val="333333"/>
                </a:solidFill>
                <a:latin typeface="Century Gothic"/>
              </a:rPr>
              <a:t>This can take a few minutes — grab a snack while it installs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9809" y="2019100"/>
            <a:ext cx="114460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Wait for Download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96247" y="1684841"/>
            <a:ext cx="9144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14" b="0" i="0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1950" y="2019100"/>
            <a:ext cx="111097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7" b="1" i="0">
                <a:solidFill>
                  <a:srgbClr val="2C46FB"/>
                </a:solidFill>
                <a:latin typeface="Century Gothic"/>
              </a:rPr>
              <a:t>Select Your Board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559DE78-4677-A0BA-E31C-44433B13D59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7494" y="2960267"/>
            <a:ext cx="1776705" cy="1057108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2824C147-A88A-9F25-884A-0A57E6F99682}"/>
              </a:ext>
            </a:extLst>
          </p:cNvPr>
          <p:cNvGrpSpPr/>
          <p:nvPr/>
        </p:nvGrpSpPr>
        <p:grpSpPr>
          <a:xfrm>
            <a:off x="9932121" y="2908836"/>
            <a:ext cx="1776705" cy="1040328"/>
            <a:chOff x="2884507" y="2001993"/>
            <a:chExt cx="6020870" cy="3171166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2849DF1-AA64-AC96-6247-46ED3C413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4507" y="2001993"/>
              <a:ext cx="6020870" cy="3171166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601645E-DE9E-A003-1B17-39491B786121}"/>
                </a:ext>
              </a:extLst>
            </p:cNvPr>
            <p:cNvSpPr/>
            <p:nvPr/>
          </p:nvSpPr>
          <p:spPr>
            <a:xfrm>
              <a:off x="7086748" y="4853836"/>
              <a:ext cx="1818629" cy="3069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7BEC6CE3-03C7-DE13-3A07-12D858933E8B}"/>
              </a:ext>
            </a:extLst>
          </p:cNvPr>
          <p:cNvSpPr txBox="1"/>
          <p:nvPr/>
        </p:nvSpPr>
        <p:spPr>
          <a:xfrm>
            <a:off x="10053165" y="2296300"/>
            <a:ext cx="1567865" cy="473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991" b="0" i="0" dirty="0">
                <a:solidFill>
                  <a:srgbClr val="333333"/>
                </a:solidFill>
                <a:latin typeface="Century Gothic"/>
              </a:rPr>
              <a:t>Go to </a:t>
            </a:r>
            <a:r>
              <a:rPr lang="en-US" sz="1100" dirty="0">
                <a:solidFill>
                  <a:srgbClr val="333333"/>
                </a:solidFill>
                <a:latin typeface="Century Gothic"/>
              </a:rPr>
              <a:t>Go to</a:t>
            </a:r>
            <a:r>
              <a:rPr lang="en-US" sz="1100" dirty="0">
                <a:solidFill>
                  <a:srgbClr val="2C46FB"/>
                </a:solidFill>
                <a:highlight>
                  <a:srgbClr val="EEF3FF"/>
                </a:highlight>
                <a:latin typeface="Courier New"/>
              </a:rPr>
              <a:t> </a:t>
            </a:r>
            <a:r>
              <a:rPr lang="en-US" sz="800" dirty="0">
                <a:solidFill>
                  <a:srgbClr val="2C46FB"/>
                </a:solidFill>
                <a:highlight>
                  <a:srgbClr val="EEF3FF"/>
                </a:highlight>
                <a:latin typeface="Microsoft YaHei"/>
              </a:rPr>
              <a:t>Tools → Board</a:t>
            </a:r>
            <a:r>
              <a:rPr lang="en-US" sz="800" dirty="0">
                <a:solidFill>
                  <a:srgbClr val="2C46FB"/>
                </a:solidFill>
                <a:latin typeface="Microsoft YaHei"/>
              </a:rPr>
              <a:t>  </a:t>
            </a:r>
            <a:r>
              <a:rPr lang="en-US" sz="990" dirty="0">
                <a:latin typeface="Century Gothic" panose="020B0502020202020204" pitchFamily="34" charset="0"/>
              </a:rPr>
              <a:t>Now esp32 should be visible</a:t>
            </a:r>
            <a:endParaRPr sz="990" b="0" i="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220390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3400" y="1319361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67" y="1439288"/>
            <a:ext cx="133361" cy="952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1844873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3400" y="1943844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67" y="2063755"/>
            <a:ext cx="133361" cy="9526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000" y="2469356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3400" y="2568326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67" y="2688222"/>
            <a:ext cx="133361" cy="952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1000" y="3093839"/>
            <a:ext cx="5623619" cy="533102"/>
          </a:xfrm>
          <a:prstGeom prst="roundRect">
            <a:avLst>
              <a:gd name="adj" fmla="val 214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3400" y="3192809"/>
            <a:ext cx="335160" cy="335160"/>
          </a:xfrm>
          <a:prstGeom prst="ellipse">
            <a:avLst/>
          </a:prstGeom>
          <a:solidFill>
            <a:srgbClr val="2C4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67" y="3312689"/>
            <a:ext cx="133361" cy="9526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990" y="6451388"/>
            <a:ext cx="167576" cy="1675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0990" y="375186"/>
            <a:ext cx="4812237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80" b="0" i="0">
                <a:solidFill>
                  <a:srgbClr val="2C46FB"/>
                </a:solidFill>
                <a:latin typeface="Century Gothic"/>
              </a:rPr>
              <a:t>Quick Pre-Workshop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90" y="866158"/>
            <a:ext cx="7867453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39" b="0" i="0">
                <a:solidFill>
                  <a:srgbClr val="333333"/>
                </a:solidFill>
                <a:latin typeface="Century Gothic"/>
              </a:rPr>
              <a:t>Run through this list the night before the workshop — if all boxes are checked, you are fully ready.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606" y="1389722"/>
            <a:ext cx="360408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Arduino IDE 2.x installed and opens without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606" y="2014189"/>
            <a:ext cx="1566134" cy="173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 dirty="0">
                <a:solidFill>
                  <a:srgbClr val="333333"/>
                </a:solidFill>
                <a:latin typeface="Century Gothic"/>
              </a:rPr>
              <a:t>CP2102 driver installed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606" y="2638656"/>
            <a:ext cx="359857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ESP32 board manager URL added in Preferences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606" y="3263123"/>
            <a:ext cx="417348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7" b="0" i="0">
                <a:solidFill>
                  <a:srgbClr val="333333"/>
                </a:solidFill>
                <a:latin typeface="Century Gothic"/>
              </a:rPr>
              <a:t>"esp32 by Espressif Systems" installed via Boards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944" y="6441120"/>
            <a:ext cx="518176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0" b="0" i="0">
                <a:solidFill>
                  <a:srgbClr val="333333"/>
                </a:solidFill>
                <a:latin typeface="Century Gothic"/>
              </a:rPr>
              <a:t>Tick every box above and you are</a:t>
            </a:r>
            <a:r>
              <a:rPr sz="1070" b="0" i="0">
                <a:solidFill>
                  <a:srgbClr val="2C46FB"/>
                </a:solidFill>
                <a:latin typeface="Century Gothic"/>
              </a:rPr>
              <a:t> 100% workshop-ready</a:t>
            </a:r>
            <a:r>
              <a:rPr sz="1070" b="0" i="0">
                <a:solidFill>
                  <a:srgbClr val="333333"/>
                </a:solidFill>
                <a:latin typeface="Century Gothic"/>
              </a:rPr>
              <a:t> — see you there!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688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Microsoft YaHei</vt:lpstr>
      <vt:lpstr>Arial</vt:lpstr>
      <vt:lpstr>Calibri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Rajavel, Nithish</dc:creator>
  <cp:keywords/>
  <dc:description>generated using python-pptx</dc:description>
  <cp:lastModifiedBy>Nithish Rajavel</cp:lastModifiedBy>
  <cp:revision>4</cp:revision>
  <dcterms:created xsi:type="dcterms:W3CDTF">2026-09-05T09:21:17Z</dcterms:created>
  <dcterms:modified xsi:type="dcterms:W3CDTF">2026-09-05T10:42:53Z</dcterms:modified>
  <cp:category/>
</cp:coreProperties>
</file>