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.svg" ContentType="image/svg+xml"/>
  <Override PartName="/ppt/media/image110.svg" ContentType="image/svg+xml"/>
  <Override PartName="/ppt/media/image111.svg" ContentType="image/svg+xml"/>
  <Override PartName="/ppt/media/image113.svg" ContentType="image/svg+xml"/>
  <Override PartName="/ppt/media/image114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.svg" ContentType="image/svg+xml"/>
  <Override PartName="/ppt/media/image130.svg" ContentType="image/svg+xml"/>
  <Override PartName="/ppt/media/image131.svg" ContentType="image/svg+xml"/>
  <Override PartName="/ppt/media/image132.svg" ContentType="image/svg+xml"/>
  <Override PartName="/ppt/media/image133.svg" ContentType="image/svg+xml"/>
  <Override PartName="/ppt/media/image135.svg" ContentType="image/svg+xml"/>
  <Override PartName="/ppt/media/image136.svg" ContentType="image/svg+xml"/>
  <Override PartName="/ppt/media/image137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3.svg" ContentType="image/svg+xml"/>
  <Override PartName="/ppt/media/image144.svg" ContentType="image/svg+xml"/>
  <Override PartName="/ppt/media/image145.svg" ContentType="image/svg+xml"/>
  <Override PartName="/ppt/media/image146.svg" ContentType="image/svg+xml"/>
  <Override PartName="/ppt/media/image147.svg" ContentType="image/svg+xml"/>
  <Override PartName="/ppt/media/image148.svg" ContentType="image/svg+xml"/>
  <Override PartName="/ppt/media/image15.svg" ContentType="image/svg+xml"/>
  <Override PartName="/ppt/media/image150.svg" ContentType="image/svg+xml"/>
  <Override PartName="/ppt/media/image151.svg" ContentType="image/svg+xml"/>
  <Override PartName="/ppt/media/image152.svg" ContentType="image/svg+xml"/>
  <Override PartName="/ppt/media/image154.svg" ContentType="image/svg+xml"/>
  <Override PartName="/ppt/media/image155.svg" ContentType="image/svg+xml"/>
  <Override PartName="/ppt/media/image156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59.svg" ContentType="image/svg+xml"/>
  <Override PartName="/ppt/media/image62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8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42.png"/><Relationship Id="rId11" Type="http://schemas.openxmlformats.org/officeDocument/2006/relationships/image" Target="../media/image4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36.png"/><Relationship Id="rId8" Type="http://schemas.openxmlformats.org/officeDocument/2006/relationships/image" Target="../media/image37.svg"/><Relationship Id="rId9" Type="http://schemas.openxmlformats.org/officeDocument/2006/relationships/image" Target="../media/image47.png"/><Relationship Id="rId10" Type="http://schemas.openxmlformats.org/officeDocument/2006/relationships/image" Target="../media/image48.svg"/><Relationship Id="rId11" Type="http://schemas.openxmlformats.org/officeDocument/2006/relationships/image" Target="../media/image55.png"/><Relationship Id="rId12" Type="http://schemas.openxmlformats.org/officeDocument/2006/relationships/image" Target="../media/image56.svg"/><Relationship Id="rId13" Type="http://schemas.openxmlformats.org/officeDocument/2006/relationships/hyperlink" Target="https://esp32s.com/blog/the-complete-2026-guide-to-installing-esp32-board-in-arduino-ide-windows-mac-linux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hyperlink" Target="https://robocraze.com/blogs/post/guide-to-installing-esp32-drivers-and-setting-up-arduino-id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0.png"/><Relationship Id="rId6" Type="http://schemas.openxmlformats.org/officeDocument/2006/relationships/image" Target="../media/image21.svg"/><Relationship Id="rId7" Type="http://schemas.openxmlformats.org/officeDocument/2006/relationships/image" Target="../media/image32.png"/><Relationship Id="rId8" Type="http://schemas.openxmlformats.org/officeDocument/2006/relationships/image" Target="../media/image33.svg"/><Relationship Id="rId9" Type="http://schemas.openxmlformats.org/officeDocument/2006/relationships/image" Target="../media/image44.png"/><Relationship Id="rId10" Type="http://schemas.openxmlformats.org/officeDocument/2006/relationships/image" Target="../media/image45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63.png"/><Relationship Id="rId14" Type="http://schemas.openxmlformats.org/officeDocument/2006/relationships/image" Target="../media/image64.svg"/><Relationship Id="rId15" Type="http://schemas.openxmlformats.org/officeDocument/2006/relationships/hyperlink" Target="https://docs.espressif.com/projects/arduino-esp32/en/latest/installing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38.png"/><Relationship Id="rId8" Type="http://schemas.openxmlformats.org/officeDocument/2006/relationships/image" Target="../media/image39.svg"/><Relationship Id="rId9" Type="http://schemas.openxmlformats.org/officeDocument/2006/relationships/image" Target="../media/image46.svg"/><Relationship Id="rId10" Type="http://schemas.openxmlformats.org/officeDocument/2006/relationships/image" Target="../media/image57.png"/><Relationship Id="rId11" Type="http://schemas.openxmlformats.org/officeDocument/2006/relationships/image" Target="../media/image58.svg"/><Relationship Id="rId12" Type="http://schemas.openxmlformats.org/officeDocument/2006/relationships/image" Target="../media/image65.svg"/><Relationship Id="rId13" Type="http://schemas.openxmlformats.org/officeDocument/2006/relationships/image" Target="../media/image67.png"/><Relationship Id="rId14" Type="http://schemas.openxmlformats.org/officeDocument/2006/relationships/image" Target="../media/image68.svg"/><Relationship Id="rId15" Type="http://schemas.openxmlformats.org/officeDocument/2006/relationships/image" Target="../media/image70.png"/><Relationship Id="rId16" Type="http://schemas.openxmlformats.org/officeDocument/2006/relationships/image" Target="../media/image71.svg"/><Relationship Id="rId17" Type="http://schemas.openxmlformats.org/officeDocument/2006/relationships/hyperlink" Target="https://electricalflux.com/mcu-general/esp-32-arduino-board-manager-config" TargetMode="External"/><Relationship Id="rId18" Type="http://schemas.openxmlformats.org/officeDocument/2006/relationships/hyperlink" Target="https://docs.espressif.com/projects/arduino-esp32/en/latest/installing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34.png"/><Relationship Id="rId8" Type="http://schemas.openxmlformats.org/officeDocument/2006/relationships/image" Target="../media/image35.svg"/><Relationship Id="rId9" Type="http://schemas.openxmlformats.org/officeDocument/2006/relationships/hyperlink" Target="https://esp32s.com/blog/the-complete-2026-guide-to-installing-esp32-board-in-arduino-ide-windows-mac-linux/" TargetMode="External"/><Relationship Id="rId10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svg"/><Relationship Id="rId5" Type="http://schemas.openxmlformats.org/officeDocument/2006/relationships/image" Target="../media/image40.png"/><Relationship Id="rId6" Type="http://schemas.openxmlformats.org/officeDocument/2006/relationships/image" Target="../media/image41.svg"/><Relationship Id="rId7" Type="http://schemas.openxmlformats.org/officeDocument/2006/relationships/image" Target="../media/image51.png"/><Relationship Id="rId8" Type="http://schemas.openxmlformats.org/officeDocument/2006/relationships/image" Target="../media/image52.svg"/><Relationship Id="rId9" Type="http://schemas.openxmlformats.org/officeDocument/2006/relationships/image" Target="../media/image61.png"/><Relationship Id="rId10" Type="http://schemas.openxmlformats.org/officeDocument/2006/relationships/image" Target="../media/image62.svg"/><Relationship Id="rId11" Type="http://schemas.openxmlformats.org/officeDocument/2006/relationships/hyperlink" Target="https://esp32s.com/blog/the-complete-2026-guide-to-installing-esp32-board-in-arduino-ide-windows-mac-linux/" TargetMode="External"/><Relationship Id="rId12" Type="http://schemas.openxmlformats.org/officeDocument/2006/relationships/hyperlink" Target="https://robocraze.com/blogs/post/guide-to-installing-esp32-drivers-and-setting-up-arduino-ide" TargetMode="External"/><Relationship Id="rId13" Type="http://schemas.openxmlformats.org/officeDocument/2006/relationships/hyperlink" Target="https://electricalflux.com/mcu-general/esp-32-arduino-board-manager-confi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svg"/><Relationship Id="rId4" Type="http://schemas.openxmlformats.org/officeDocument/2006/relationships/image" Target="../media/image59.svg"/><Relationship Id="rId5" Type="http://schemas.openxmlformats.org/officeDocument/2006/relationships/image" Target="../media/image66.svg"/><Relationship Id="rId6" Type="http://schemas.openxmlformats.org/officeDocument/2006/relationships/image" Target="../media/image69.svg"/><Relationship Id="rId7" Type="http://schemas.openxmlformats.org/officeDocument/2006/relationships/image" Target="../media/image72.svg"/><Relationship Id="rId8" Type="http://schemas.openxmlformats.org/officeDocument/2006/relationships/image" Target="../media/image74.png"/><Relationship Id="rId9" Type="http://schemas.openxmlformats.org/officeDocument/2006/relationships/image" Target="../media/image75.svg"/><Relationship Id="rId10" Type="http://schemas.openxmlformats.org/officeDocument/2006/relationships/image" Target="../media/image78.png"/><Relationship Id="rId11" Type="http://schemas.openxmlformats.org/officeDocument/2006/relationships/image" Target="../media/image7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hyperlink" Target="https://esp32s.com/blog/the-complete-2026-guide-to-installing-esp32-board-in-arduino-ide-windows-mac-linux/" TargetMode="External"/><Relationship Id="rId4" Type="http://schemas.openxmlformats.org/officeDocument/2006/relationships/hyperlink" Target="https://docs.espressif.com/projects/arduino-esp32/en/latest/installing.html" TargetMode="External"/><Relationship Id="rId5" Type="http://schemas.openxmlformats.org/officeDocument/2006/relationships/hyperlink" Target="https://robocraze.com/blogs/post/guide-to-installing-esp32-drivers-and-setting-up-arduino-ide" TargetMode="External"/><Relationship Id="rId6" Type="http://schemas.openxmlformats.org/officeDocument/2006/relationships/hyperlink" Target="https://electricalflux.com/mcu-general/esp-32-arduino-board-manager-config" TargetMode="External"/><Relationship Id="rId7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3.svg"/><Relationship Id="rId4" Type="http://schemas.openxmlformats.org/officeDocument/2006/relationships/image" Target="../media/image76.png"/><Relationship Id="rId5" Type="http://schemas.openxmlformats.org/officeDocument/2006/relationships/image" Target="../media/image77.svg"/><Relationship Id="rId6" Type="http://schemas.openxmlformats.org/officeDocument/2006/relationships/image" Target="../media/image8.png"/><Relationship Id="rId7" Type="http://schemas.openxmlformats.org/officeDocument/2006/relationships/image" Target="../media/image80.svg"/><Relationship Id="rId8" Type="http://schemas.openxmlformats.org/officeDocument/2006/relationships/image" Target="../media/image18.png"/><Relationship Id="rId9" Type="http://schemas.openxmlformats.org/officeDocument/2006/relationships/image" Target="../media/image87.svg"/><Relationship Id="rId10" Type="http://schemas.openxmlformats.org/officeDocument/2006/relationships/image" Target="../media/image30.png"/><Relationship Id="rId11" Type="http://schemas.openxmlformats.org/officeDocument/2006/relationships/image" Target="../media/image93.svg"/><Relationship Id="rId12" Type="http://schemas.openxmlformats.org/officeDocument/2006/relationships/image" Target="../media/image42.png"/><Relationship Id="rId13" Type="http://schemas.openxmlformats.org/officeDocument/2006/relationships/image" Target="../media/image99.svg"/><Relationship Id="rId14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1.png"/><Relationship Id="rId4" Type="http://schemas.openxmlformats.org/officeDocument/2006/relationships/image" Target="../media/image82.svg"/><Relationship Id="rId5" Type="http://schemas.openxmlformats.org/officeDocument/2006/relationships/image" Target="../media/image89.png"/><Relationship Id="rId6" Type="http://schemas.openxmlformats.org/officeDocument/2006/relationships/image" Target="../media/image90.svg"/><Relationship Id="rId7" Type="http://schemas.openxmlformats.org/officeDocument/2006/relationships/image" Target="../media/image97.png"/><Relationship Id="rId8" Type="http://schemas.openxmlformats.org/officeDocument/2006/relationships/image" Target="../media/image98.svg"/><Relationship Id="rId9" Type="http://schemas.openxmlformats.org/officeDocument/2006/relationships/image" Target="../media/image102.png"/><Relationship Id="rId10" Type="http://schemas.openxmlformats.org/officeDocument/2006/relationships/image" Target="../media/image103.svg"/><Relationship Id="rId11" Type="http://schemas.openxmlformats.org/officeDocument/2006/relationships/image" Target="../media/image55.png"/><Relationship Id="rId12" Type="http://schemas.openxmlformats.org/officeDocument/2006/relationships/image" Target="../media/image114.svg"/><Relationship Id="rId13" Type="http://schemas.openxmlformats.org/officeDocument/2006/relationships/hyperlink" Target="https://esp32s.com/blog/the-complete-2026-guide-to-installing-esp32-board-in-arduino-ide-windows-mac-linux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svg"/><Relationship Id="rId4" Type="http://schemas.openxmlformats.org/officeDocument/2006/relationships/hyperlink" Target="https://robocraze.com/blogs/post/guide-to-installing-esp32-drivers-and-setting-up-arduino-id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5.png"/><Relationship Id="rId4" Type="http://schemas.openxmlformats.org/officeDocument/2006/relationships/image" Target="../media/image86.svg"/><Relationship Id="rId5" Type="http://schemas.openxmlformats.org/officeDocument/2006/relationships/image" Target="../media/image91.png"/><Relationship Id="rId6" Type="http://schemas.openxmlformats.org/officeDocument/2006/relationships/image" Target="../media/image92.svg"/><Relationship Id="rId7" Type="http://schemas.openxmlformats.org/officeDocument/2006/relationships/image" Target="../media/image95.png"/><Relationship Id="rId8" Type="http://schemas.openxmlformats.org/officeDocument/2006/relationships/image" Target="../media/image96.svg"/><Relationship Id="rId9" Type="http://schemas.openxmlformats.org/officeDocument/2006/relationships/image" Target="../media/image100.png"/><Relationship Id="rId10" Type="http://schemas.openxmlformats.org/officeDocument/2006/relationships/image" Target="../media/image101.svg"/><Relationship Id="rId11" Type="http://schemas.openxmlformats.org/officeDocument/2006/relationships/image" Target="../media/image112.png"/><Relationship Id="rId12" Type="http://schemas.openxmlformats.org/officeDocument/2006/relationships/image" Target="../media/image113.svg"/><Relationship Id="rId13" Type="http://schemas.openxmlformats.org/officeDocument/2006/relationships/image" Target="../media/image123.png"/><Relationship Id="rId14" Type="http://schemas.openxmlformats.org/officeDocument/2006/relationships/image" Target="../media/image124.svg"/><Relationship Id="rId15" Type="http://schemas.openxmlformats.org/officeDocument/2006/relationships/hyperlink" Target="https://docs.espressif.com/projects/arduino-esp32/en/latest/installing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88.svg"/><Relationship Id="rId5" Type="http://schemas.openxmlformats.org/officeDocument/2006/relationships/image" Target="../media/image24.png"/><Relationship Id="rId6" Type="http://schemas.openxmlformats.org/officeDocument/2006/relationships/image" Target="../media/image94.svg"/><Relationship Id="rId7" Type="http://schemas.openxmlformats.org/officeDocument/2006/relationships/image" Target="../media/image104.png"/><Relationship Id="rId8" Type="http://schemas.openxmlformats.org/officeDocument/2006/relationships/image" Target="../media/image105.svg"/><Relationship Id="rId9" Type="http://schemas.openxmlformats.org/officeDocument/2006/relationships/image" Target="../media/image115.svg"/><Relationship Id="rId10" Type="http://schemas.openxmlformats.org/officeDocument/2006/relationships/image" Target="../media/image38.png"/><Relationship Id="rId11" Type="http://schemas.openxmlformats.org/officeDocument/2006/relationships/image" Target="../media/image125.svg"/><Relationship Id="rId12" Type="http://schemas.openxmlformats.org/officeDocument/2006/relationships/image" Target="../media/image132.svg"/><Relationship Id="rId13" Type="http://schemas.openxmlformats.org/officeDocument/2006/relationships/image" Target="../media/image57.png"/><Relationship Id="rId14" Type="http://schemas.openxmlformats.org/officeDocument/2006/relationships/image" Target="../media/image138.svg"/><Relationship Id="rId15" Type="http://schemas.openxmlformats.org/officeDocument/2006/relationships/image" Target="../media/image143.svg"/><Relationship Id="rId16" Type="http://schemas.openxmlformats.org/officeDocument/2006/relationships/image" Target="../media/image67.png"/><Relationship Id="rId17" Type="http://schemas.openxmlformats.org/officeDocument/2006/relationships/image" Target="../media/image148.svg"/><Relationship Id="rId18" Type="http://schemas.openxmlformats.org/officeDocument/2006/relationships/image" Target="../media/image70.png"/><Relationship Id="rId19" Type="http://schemas.openxmlformats.org/officeDocument/2006/relationships/image" Target="../media/image155.svg"/><Relationship Id="rId20" Type="http://schemas.openxmlformats.org/officeDocument/2006/relationships/hyperlink" Target="https://electricalflux.com/mcu-general/esp-32-arduino-board-manager-config" TargetMode="External"/><Relationship Id="rId21" Type="http://schemas.openxmlformats.org/officeDocument/2006/relationships/hyperlink" Target="https://docs.espressif.com/projects/arduino-esp32/en/latest/installing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11.svg"/><Relationship Id="rId5" Type="http://schemas.openxmlformats.org/officeDocument/2006/relationships/image" Target="../media/image121.png"/><Relationship Id="rId6" Type="http://schemas.openxmlformats.org/officeDocument/2006/relationships/image" Target="../media/image122.svg"/><Relationship Id="rId7" Type="http://schemas.openxmlformats.org/officeDocument/2006/relationships/image" Target="../media/image128.png"/><Relationship Id="rId8" Type="http://schemas.openxmlformats.org/officeDocument/2006/relationships/image" Target="../media/image129.svg"/><Relationship Id="rId9" Type="http://schemas.openxmlformats.org/officeDocument/2006/relationships/image" Target="../media/image134.png"/><Relationship Id="rId10" Type="http://schemas.openxmlformats.org/officeDocument/2006/relationships/image" Target="../media/image135.svg"/><Relationship Id="rId11" Type="http://schemas.openxmlformats.org/officeDocument/2006/relationships/image" Target="../media/image141.png"/><Relationship Id="rId12" Type="http://schemas.openxmlformats.org/officeDocument/2006/relationships/image" Target="../media/image142.svg"/><Relationship Id="rId13" Type="http://schemas.openxmlformats.org/officeDocument/2006/relationships/image" Target="../media/image26.png"/><Relationship Id="rId14" Type="http://schemas.openxmlformats.org/officeDocument/2006/relationships/image" Target="../media/image146.svg"/><Relationship Id="rId15" Type="http://schemas.openxmlformats.org/officeDocument/2006/relationships/image" Target="../media/image34.png"/><Relationship Id="rId16" Type="http://schemas.openxmlformats.org/officeDocument/2006/relationships/image" Target="../media/image151.svg"/><Relationship Id="rId17" Type="http://schemas.openxmlformats.org/officeDocument/2006/relationships/hyperlink" Target="https://esp32s.com/blog/the-complete-2026-guide-to-installing-esp32-board-in-arduino-ide-windows-mac-linux/" TargetMode="External"/><Relationship Id="rId18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6.png"/><Relationship Id="rId4" Type="http://schemas.openxmlformats.org/officeDocument/2006/relationships/image" Target="../media/image107.svg"/><Relationship Id="rId5" Type="http://schemas.openxmlformats.org/officeDocument/2006/relationships/image" Target="../media/image116.png"/><Relationship Id="rId6" Type="http://schemas.openxmlformats.org/officeDocument/2006/relationships/image" Target="../media/image117.svg"/><Relationship Id="rId7" Type="http://schemas.openxmlformats.org/officeDocument/2006/relationships/image" Target="../media/image126.png"/><Relationship Id="rId8" Type="http://schemas.openxmlformats.org/officeDocument/2006/relationships/image" Target="../media/image127.svg"/><Relationship Id="rId9" Type="http://schemas.openxmlformats.org/officeDocument/2006/relationships/image" Target="../media/image133.svg"/><Relationship Id="rId10" Type="http://schemas.openxmlformats.org/officeDocument/2006/relationships/image" Target="../media/image139.png"/><Relationship Id="rId11" Type="http://schemas.openxmlformats.org/officeDocument/2006/relationships/image" Target="../media/image140.svg"/><Relationship Id="rId12" Type="http://schemas.openxmlformats.org/officeDocument/2006/relationships/image" Target="../media/image145.svg"/><Relationship Id="rId13" Type="http://schemas.openxmlformats.org/officeDocument/2006/relationships/image" Target="../media/image149.png"/><Relationship Id="rId14" Type="http://schemas.openxmlformats.org/officeDocument/2006/relationships/image" Target="../media/image150.svg"/><Relationship Id="rId15" Type="http://schemas.openxmlformats.org/officeDocument/2006/relationships/image" Target="../media/image153.png"/><Relationship Id="rId16" Type="http://schemas.openxmlformats.org/officeDocument/2006/relationships/image" Target="../media/image154.svg"/><Relationship Id="rId17" Type="http://schemas.openxmlformats.org/officeDocument/2006/relationships/hyperlink" Target="https://electricalflux.com/mcu-general/esp-32-arduino-board-manager-config" TargetMode="External"/><Relationship Id="rId18" Type="http://schemas.openxmlformats.org/officeDocument/2006/relationships/hyperlink" Target="https://robocraze.com/blogs/post/guide-to-installing-esp32-drivers-and-setting-up-arduino-ide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Relationship Id="rId4" Type="http://schemas.openxmlformats.org/officeDocument/2006/relationships/image" Target="../media/image109.svg"/><Relationship Id="rId5" Type="http://schemas.openxmlformats.org/officeDocument/2006/relationships/image" Target="../media/image118.png"/><Relationship Id="rId6" Type="http://schemas.openxmlformats.org/officeDocument/2006/relationships/image" Target="../media/image119.svg"/><Relationship Id="rId7" Type="http://schemas.openxmlformats.org/officeDocument/2006/relationships/image" Target="../media/image51.png"/><Relationship Id="rId8" Type="http://schemas.openxmlformats.org/officeDocument/2006/relationships/image" Target="../media/image131.svg"/><Relationship Id="rId9" Type="http://schemas.openxmlformats.org/officeDocument/2006/relationships/image" Target="../media/image61.png"/><Relationship Id="rId10" Type="http://schemas.openxmlformats.org/officeDocument/2006/relationships/image" Target="../media/image137.svg"/><Relationship Id="rId11" Type="http://schemas.openxmlformats.org/officeDocument/2006/relationships/hyperlink" Target="https://robocraze.com/blogs/post/guide-to-installing-esp32-drivers-and-setting-up-arduino-ide" TargetMode="External"/><Relationship Id="rId12" Type="http://schemas.openxmlformats.org/officeDocument/2006/relationships/hyperlink" Target="https://esp32s.com/blog/the-complete-2026-guide-to-installing-esp32-board-in-arduino-ide-windows-mac-linux/" TargetMode="External"/><Relationship Id="rId13" Type="http://schemas.openxmlformats.org/officeDocument/2006/relationships/hyperlink" Target="https://electricalflux.com/mcu-general/esp-32-arduino-board-manager-config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10.svg"/><Relationship Id="rId4" Type="http://schemas.openxmlformats.org/officeDocument/2006/relationships/image" Target="../media/image120.svg"/><Relationship Id="rId5" Type="http://schemas.openxmlformats.org/officeDocument/2006/relationships/image" Target="../media/image130.svg"/><Relationship Id="rId6" Type="http://schemas.openxmlformats.org/officeDocument/2006/relationships/image" Target="../media/image136.svg"/><Relationship Id="rId7" Type="http://schemas.openxmlformats.org/officeDocument/2006/relationships/image" Target="../media/image144.svg"/><Relationship Id="rId8" Type="http://schemas.openxmlformats.org/officeDocument/2006/relationships/image" Target="../media/image147.svg"/><Relationship Id="rId9" Type="http://schemas.openxmlformats.org/officeDocument/2006/relationships/image" Target="../media/image152.svg"/><Relationship Id="rId10" Type="http://schemas.openxmlformats.org/officeDocument/2006/relationships/image" Target="../media/image78.png"/><Relationship Id="rId11" Type="http://schemas.openxmlformats.org/officeDocument/2006/relationships/image" Target="../media/image156.svg"/><Relationship Id="rId12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sp32s.com/blog/the-complete-2026-guide-to-installing-esp32-board-in-arduino-ide-windows-mac-linux/" TargetMode="External"/><Relationship Id="rId3" Type="http://schemas.openxmlformats.org/officeDocument/2006/relationships/hyperlink" Target="https://docs.espressif.com/projects/arduino-esp32/en/latest/installing.html" TargetMode="External"/><Relationship Id="rId4" Type="http://schemas.openxmlformats.org/officeDocument/2006/relationships/hyperlink" Target="https://robocraze.com/blogs/post/guide-to-installing-esp32-drivers-and-setting-up-arduino-ide" TargetMode="External"/><Relationship Id="rId5" Type="http://schemas.openxmlformats.org/officeDocument/2006/relationships/hyperlink" Target="https://electricalflux.com/mcu-general/esp-32-arduino-board-manager-config" TargetMode="External"/><Relationship Id="rId6" Type="http://schemas.openxmlformats.org/officeDocument/2006/relationships/hyperlink" Target="https://kla-my.sharepoint.com/personal/nithish_rajavel_kla_com/Documents/Microsoft%20Copilot%20Chat%20Files/Anna%20university%20hardware%20session%20plan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91200" y="3372594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78275" y="1984424"/>
            <a:ext cx="3234996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Anna University IoT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9846" y="2376725"/>
            <a:ext cx="7531854" cy="790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736" b="0" i="0">
                <a:solidFill>
                  <a:srgbClr val="FFFFFF"/>
                </a:solidFill>
                <a:latin typeface="Century Gothic"/>
              </a:rPr>
              <a:t>IOT Workshop Prep-Book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6380" y="3642923"/>
            <a:ext cx="4818785" cy="21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2" b="0" i="0">
                <a:solidFill>
                  <a:srgbClr val="FFFFFF"/>
                </a:solidFill>
                <a:latin typeface="Century Gothic"/>
              </a:rPr>
              <a:t>Your Pre-Workshop Setup Guide — Get Ready to Build!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6810" y="4160981"/>
            <a:ext cx="5738073" cy="6780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Hi guys! Super excited to have you all at the workshop. This guide walks you through everything — step by step — so on workshop day you just plug in your ESP32 and start coding. No stress, promise!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439" y="6222348"/>
            <a:ext cx="316281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Century Gothic"/>
              </a:rPr>
              <a:t>Anna University IoT Workshop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180" y="1180802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580" y="1295102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125" y="1424487"/>
            <a:ext cx="152396" cy="1066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49131" y="1180802"/>
            <a:ext cx="5646390" cy="808880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1531" y="1295102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932" y="1401628"/>
            <a:ext cx="152396" cy="1523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6180" y="3139678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580" y="3253978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126" y="3383314"/>
            <a:ext cx="152369" cy="1066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49131" y="3139678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1531" y="3253978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7932" y="3360454"/>
            <a:ext cx="152396" cy="1523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96180" y="4930229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580" y="5044529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512" y="5159428"/>
            <a:ext cx="139711" cy="1354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6170" y="344677"/>
            <a:ext cx="5349195" cy="37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5" b="0" i="0">
                <a:solidFill>
                  <a:srgbClr val="2C46FB"/>
                </a:solidFill>
                <a:latin typeface="Century Gothic"/>
              </a:rPr>
              <a:t>What You Will Need Before You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170" y="796061"/>
            <a:ext cx="8690749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333333"/>
                </a:solidFill>
                <a:latin typeface="Century Gothic"/>
              </a:rPr>
              <a:t>Show up with a prepped laptop — all you need is your Windows machine and a good internet connection.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525" y="1304594"/>
            <a:ext cx="160641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Your Windows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525" y="1538695"/>
            <a:ext cx="268523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Windows 10 or Windows 11 — both are 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332" y="1304594"/>
            <a:ext cx="279849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No ESP32 board or cable needed yet!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332" y="1538695"/>
            <a:ext cx="4591679" cy="330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Both the ESP32 board and cable will be provided on workshop day — just complete this setup guide and you are all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525" y="3263421"/>
            <a:ext cx="215408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 Stable Internet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525" y="3497522"/>
            <a:ext cx="3336791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Needed to download software and board packages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332" y="3263421"/>
            <a:ext cx="245456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About 30–45 Minutes of Free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332" y="3497522"/>
            <a:ext cx="376272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Set aside some time to go through this guide without rushing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525" y="5053927"/>
            <a:ext cx="1607898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You're Ready to Build!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525" y="5288028"/>
            <a:ext cx="378609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Once these are sorted, the fun part begins on workshop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479821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817661"/>
            <a:ext cx="2865239" cy="546809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0490" y="924222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481" y="1301320"/>
            <a:ext cx="182756" cy="182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185219" y="817661"/>
            <a:ext cx="2865239" cy="546809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07109" y="924222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9871" y="1301320"/>
            <a:ext cx="137067" cy="1827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41839" y="817661"/>
            <a:ext cx="2865239" cy="546809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729" y="924222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9283" y="1301320"/>
            <a:ext cx="171334" cy="1817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98458" y="817661"/>
            <a:ext cx="2865239" cy="546809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20348" y="924222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0118" y="1301320"/>
            <a:ext cx="182756" cy="1827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28600" y="6361955"/>
            <a:ext cx="11734800" cy="374153"/>
          </a:xfrm>
          <a:prstGeom prst="roundRect">
            <a:avLst>
              <a:gd name="adj" fmla="val 20366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174" y="6465080"/>
            <a:ext cx="115208" cy="167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8594" y="161920"/>
            <a:ext cx="4721305" cy="27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91" b="0" i="0">
                <a:solidFill>
                  <a:srgbClr val="333333"/>
                </a:solidFill>
                <a:latin typeface="Century Gothic"/>
              </a:rPr>
              <a:t>Step 1 — Download and Install Arduino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594" y="578778"/>
            <a:ext cx="7002783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2C46FB"/>
                </a:solidFill>
                <a:latin typeface="Century Gothic"/>
              </a:rPr>
              <a:t>Arduino IDE 2.x is the modern standard — download it once and you are set for the entire workshop.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611" y="9813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81" y="1564144"/>
            <a:ext cx="2357973" cy="574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arduino.cc/en/software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and download the latest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Arduino IDE 2.x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installer for Windows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3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7157" y="9813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7027" y="1564144"/>
            <a:ext cx="2473015" cy="35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Run the downloaded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.exe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file — click through the install wizard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7027" y="1968946"/>
            <a:ext cx="1945134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35" b="0" i="0">
                <a:solidFill>
                  <a:srgbClr val="B36200"/>
                </a:solidFill>
                <a:latin typeface="Microsoft YaHei"/>
              </a:rPr>
              <a:t>Next → Agree → Install → Finish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702" y="9813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572" y="1564144"/>
            <a:ext cx="2364075" cy="35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When Windows asks about allowing app changes — click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0248" y="9813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118" y="1564144"/>
            <a:ext cx="2467955" cy="545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Launch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2C46FB"/>
                </a:solidFill>
                <a:latin typeface="Century Gothic"/>
              </a:rPr>
              <a:t>Arduino IDE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14" b="0" i="0">
                <a:solidFill>
                  <a:srgbClr val="333333"/>
                </a:solidFill>
                <a:latin typeface="Century Gothic"/>
              </a:rPr>
              <a:t>— if it opens without errors, you are good to move on!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944" y="6447519"/>
            <a:ext cx="6238421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Pro tip: As of 2026, Arduino IDE 2.x is the recommended standard for all ESP32 projects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D5A2"/>
                </a:solidFill>
                <a:latin typeface="Century Gothic"/>
                <a:hlinkClick r:id="rId13" tooltip="How to Install ESP32 in Arduino IDE (2026): Complete 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212" y="1403895"/>
            <a:ext cx="28575" cy="5042743"/>
          </a:xfrm>
          <a:prstGeom prst="roundRect">
            <a:avLst>
              <a:gd name="adj" fmla="val 50000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21134"/>
            <a:ext cx="10896600" cy="1306413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470" y="131251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88418"/>
            <a:ext cx="10896600" cy="1306413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470" y="267979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955702"/>
            <a:ext cx="10896600" cy="1306413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470" y="4047083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322986"/>
            <a:ext cx="10896600" cy="1306413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470" y="5414367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887" y="5705183"/>
            <a:ext cx="113292" cy="1294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0990" y="304792"/>
            <a:ext cx="900685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A85C00"/>
                </a:solidFill>
                <a:latin typeface="Century Gothic"/>
              </a:rPr>
              <a:t>Step 2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0" y="508532"/>
            <a:ext cx="3689505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Install the CP2102 USB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90" y="935361"/>
            <a:ext cx="820201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1">
                <a:solidFill>
                  <a:srgbClr val="2C46FB"/>
                </a:solidFill>
                <a:latin typeface="Century Gothic"/>
              </a:rPr>
              <a:t>Install this driver now so your laptop is ready to recognise the ESP32 the moment you plug it in on workshop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3657" y="1379155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2795" y="1306827"/>
            <a:ext cx="8063603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Most ESP32 boards use a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CP210x USB-to-UART bridge chip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(Silicon Labs) to communicate with your laptop.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3657" y="2746405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2795" y="2674076"/>
            <a:ext cx="8404113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If the driver is missing, your board will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not appear in Device Manager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and no COM port will show in Arduino IDE.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3657" y="4113655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2795" y="4062162"/>
            <a:ext cx="9157760" cy="218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Download the driver: go to</a:t>
            </a:r>
            <a:r>
              <a:rPr sz="957" b="0" i="0">
                <a:solidFill>
                  <a:srgbClr val="2C46FB"/>
                </a:solidFill>
                <a:highlight>
                  <a:srgbClr val="EEF3FF"/>
                </a:highlight>
                <a:latin typeface="Century Gothic"/>
              </a:rPr>
              <a:t> </a:t>
            </a:r>
            <a:r>
              <a:rPr sz="957" b="0" i="0">
                <a:solidFill>
                  <a:srgbClr val="2C46FB"/>
                </a:solidFill>
                <a:highlight>
                  <a:srgbClr val="EEF3FF"/>
                </a:highlight>
                <a:latin typeface="Century Gothic"/>
              </a:rPr>
              <a:t>silabs.com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83" b="0" i="0">
                <a:solidFill>
                  <a:srgbClr val="333333"/>
                </a:solidFill>
                <a:latin typeface="Microsoft YaHei"/>
              </a:rPr>
              <a:t>→ search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"CP210x USB to UART Bridge VCP Drivers"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83" b="0" i="0">
                <a:solidFill>
                  <a:srgbClr val="333333"/>
                </a:solidFill>
                <a:latin typeface="Microsoft YaHei"/>
              </a:rPr>
              <a:t>→ download the Windows version.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3657" y="5480905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2795" y="5408576"/>
            <a:ext cx="592812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Run the installer, follow the prompts, and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restart your laptop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— you are done!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3141" y="5680776"/>
            <a:ext cx="686571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B36200"/>
                </a:solidFill>
                <a:latin typeface="Century Gothic"/>
              </a:rPr>
              <a:t>You will verify it is working when you plug in your board on workshop day — no ESP32 needed right now!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760" y="441870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760" y="765125"/>
            <a:ext cx="2899469" cy="5970984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7060" y="864096"/>
            <a:ext cx="247649" cy="247649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053" y="1191207"/>
            <a:ext cx="167565" cy="1303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158430" y="765125"/>
            <a:ext cx="2899469" cy="5970984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72730" y="864096"/>
            <a:ext cx="247649" cy="247649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315" y="1194803"/>
            <a:ext cx="158241" cy="1231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2730" y="2021830"/>
            <a:ext cx="2670869" cy="418802"/>
          </a:xfrm>
          <a:prstGeom prst="roundRect">
            <a:avLst>
              <a:gd name="adj" fmla="val 18194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9206" y="2166436"/>
            <a:ext cx="129477" cy="1294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34100" y="765125"/>
            <a:ext cx="2899469" cy="5970984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48400" y="864096"/>
            <a:ext cx="247649" cy="247649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58717" y="1183060"/>
            <a:ext cx="146629" cy="14662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09769" y="765125"/>
            <a:ext cx="2899469" cy="5970984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24069" y="864096"/>
            <a:ext cx="247649" cy="247649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23838" y="1172587"/>
            <a:ext cx="167576" cy="16757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224069" y="2352377"/>
            <a:ext cx="2670869" cy="587871"/>
          </a:xfrm>
          <a:prstGeom prst="roundRect">
            <a:avLst>
              <a:gd name="adj" fmla="val 12962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26850" y="2420827"/>
            <a:ext cx="88946" cy="1293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756" y="112362"/>
            <a:ext cx="4919688" cy="27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91" b="0" i="0">
                <a:solidFill>
                  <a:srgbClr val="333333"/>
                </a:solidFill>
                <a:latin typeface="Century Gothic"/>
              </a:rPr>
              <a:t>Step 3 — Add the ESP32 Board Manager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756" y="531303"/>
            <a:ext cx="4736783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2C46FB"/>
                </a:solidFill>
                <a:latin typeface="Century Gothic"/>
              </a:rPr>
              <a:t>This one URL is the key that unlocks ESP32 support inside Arduino 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092" y="911698"/>
            <a:ext cx="91440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053" y="1383918"/>
            <a:ext cx="1204287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2C46FB"/>
                </a:solidFill>
                <a:latin typeface="Century Gothic"/>
              </a:rPr>
              <a:t>Open Preferences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053" y="1575901"/>
            <a:ext cx="2068956" cy="371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5" b="0" i="0">
                <a:solidFill>
                  <a:srgbClr val="333333"/>
                </a:solidFill>
                <a:latin typeface="Microsoft YaHei"/>
              </a:rPr>
              <a:t>Open Arduino IDE → go to</a:t>
            </a:r>
            <a:r>
              <a:rPr sz="947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845" b="1" i="0">
                <a:solidFill>
                  <a:srgbClr val="333333"/>
                </a:solidFill>
                <a:latin typeface="Microsoft YaHei"/>
              </a:rPr>
              <a:t>File → Preferences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5" tooltip="Installing - - — Arduino ESP32 latest documentation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2687" y="911698"/>
            <a:ext cx="91440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2648" y="1383918"/>
            <a:ext cx="85916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2C46FB"/>
                </a:solidFill>
                <a:latin typeface="Century Gothic"/>
              </a:rPr>
              <a:t>Paste the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4939" y="1575901"/>
            <a:ext cx="2136374" cy="371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333333"/>
                </a:solidFill>
                <a:latin typeface="Century Gothic"/>
              </a:rPr>
              <a:t>Find</a:t>
            </a:r>
            <a:r>
              <a:rPr sz="947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7" b="1" i="0">
                <a:solidFill>
                  <a:srgbClr val="333333"/>
                </a:solidFill>
                <a:latin typeface="Century Gothic"/>
              </a:rPr>
              <a:t>"Additional boards manager URLs"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and paste this URL exactly: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5" tooltip="Installing - - — Arduino ESP32 latest documentation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9553" y="2082648"/>
            <a:ext cx="2259452" cy="291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5" b="0" i="0">
                <a:solidFill>
                  <a:srgbClr val="FFFFFF"/>
                </a:solidFill>
                <a:latin typeface="Century Gothic"/>
              </a:rPr>
              <a:t>https://espressif.github.io/arduino-esp32/package_esp32_index.json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8282" y="911698"/>
            <a:ext cx="91440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1383918"/>
            <a:ext cx="890267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2C46FB"/>
                </a:solidFill>
                <a:latin typeface="Century Gothic"/>
              </a:rPr>
              <a:t>Save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1575901"/>
            <a:ext cx="212595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333333"/>
                </a:solidFill>
                <a:latin typeface="Century Gothic"/>
              </a:rPr>
              <a:t>Click</a:t>
            </a:r>
            <a:r>
              <a:rPr sz="947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7" b="1" i="0">
                <a:solidFill>
                  <a:srgbClr val="333333"/>
                </a:solidFill>
                <a:latin typeface="Century Gothic"/>
              </a:rPr>
              <a:t>OK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to save your preferences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3877" y="911698"/>
            <a:ext cx="91440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838" y="1383918"/>
            <a:ext cx="704237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2C46FB"/>
                </a:solidFill>
                <a:latin typeface="Century Gothic"/>
              </a:rPr>
              <a:t>You're Set!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0709" y="1575901"/>
            <a:ext cx="2302611" cy="705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333333"/>
                </a:solidFill>
                <a:latin typeface="Century Gothic"/>
              </a:rPr>
              <a:t>Arduino IDE now knows where to find the ESP32 board package — like telling Arduino where to go shopping for ESP32 stuff!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0709" y="2405597"/>
            <a:ext cx="2270762" cy="4732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333333"/>
                </a:solidFill>
                <a:latin typeface="Century Gothic"/>
              </a:rPr>
              <a:t>Next up: we'll actually download and install the ESP32 board package in Step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108198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800" y="1232445"/>
            <a:ext cx="2655689" cy="4939903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3848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200" y="13848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533" y="1485732"/>
            <a:ext cx="119933" cy="102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4606" y="3718441"/>
            <a:ext cx="68547" cy="1199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80320" y="1232445"/>
            <a:ext cx="2655689" cy="4939903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32720" y="13848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13720" y="13848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7413" y="1468599"/>
            <a:ext cx="137067" cy="13706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70052" y="3718441"/>
            <a:ext cx="68547" cy="11997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55841" y="1232445"/>
            <a:ext cx="2655689" cy="4939903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8241" y="13848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89241" y="13848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89993" y="1468599"/>
            <a:ext cx="102827" cy="13706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45498" y="3718441"/>
            <a:ext cx="68547" cy="1199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31362" y="1232445"/>
            <a:ext cx="2655689" cy="4939903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83762" y="13848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64762" y="13848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48305" y="1468599"/>
            <a:ext cx="137067" cy="137067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04800" y="6248548"/>
            <a:ext cx="11582400" cy="426690"/>
          </a:xfrm>
          <a:prstGeom prst="roundRect">
            <a:avLst>
              <a:gd name="adj" fmla="val 26787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6324748"/>
            <a:ext cx="274290" cy="274290"/>
          </a:xfrm>
          <a:prstGeom prst="ellipse">
            <a:avLst/>
          </a:prstGeom>
          <a:solidFill>
            <a:srgbClr val="A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431" y="6400788"/>
            <a:ext cx="83797" cy="12188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4792" y="213265"/>
            <a:ext cx="86303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A85C00"/>
                </a:solidFill>
                <a:latin typeface="Century Gothic"/>
              </a:rPr>
              <a:t>Step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92" y="415071"/>
            <a:ext cx="4228101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Install the ESP32 Board 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92" y="826719"/>
            <a:ext cx="694087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C46FB"/>
                </a:solidFill>
                <a:latin typeface="Century Gothic"/>
              </a:rPr>
              <a:t>Installing the board package is what lets Arduino IDE compile and upload code to your ESP32.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485" y="1456246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88" y="2017463"/>
            <a:ext cx="2325083" cy="383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668" b="0" i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 → Boards Manager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7" tooltip="Complete ESP 32 Arduino IDE Setup &amp; Configuration Guide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88" y="1790506"/>
            <a:ext cx="142960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Open Boards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6931" y="1456246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2634" y="2017463"/>
            <a:ext cx="2214060" cy="575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333333"/>
                </a:solidFill>
                <a:latin typeface="Century Gothic"/>
              </a:rPr>
              <a:t>Type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esp32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in the search box, find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esp32 by Espressif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, then click Install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Installing - - — Arduino ESP32 latest documentation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634" y="1790506"/>
            <a:ext cx="116261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Find &amp; Install ESP32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378" y="1456246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8081" y="2017463"/>
            <a:ext cx="2270762" cy="327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333333"/>
                </a:solidFill>
                <a:latin typeface="Century Gothic"/>
              </a:rPr>
              <a:t>This can take a few minutes — grab a snack while it installs!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8081" y="1790506"/>
            <a:ext cx="114460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Wait for Download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7824" y="1456246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3527" y="2017463"/>
            <a:ext cx="2297551" cy="39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668" b="0" i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 → ESP32 Arduino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24" b="0" i="0">
                <a:solidFill>
                  <a:srgbClr val="333333"/>
                </a:solidFill>
                <a:latin typeface="Century Gothic"/>
              </a:rPr>
              <a:t>, then select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DOIT ESP32 DEVKIT V1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7" tooltip="Complete ESP 32 Arduino IDE Setup &amp; Configuration Guide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3527" y="1790506"/>
            <a:ext cx="1110974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Select Your 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30" y="6334115"/>
            <a:ext cx="9073377" cy="179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AA5C00"/>
                </a:solidFill>
                <a:latin typeface="Century Gothic"/>
              </a:rPr>
              <a:t>Pro Tip: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Select the board name that matches exactly what's printed on your ESP32 — if unsure,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90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DOIT ESP32 DEVKIT V1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works for most 30-pin 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464468"/>
            <a:ext cx="4928592" cy="659308"/>
          </a:xfrm>
          <a:prstGeom prst="roundRect">
            <a:avLst>
              <a:gd name="adj" fmla="val 23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3400" y="157876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215157"/>
            <a:ext cx="4928592" cy="648295"/>
          </a:xfrm>
          <a:prstGeom prst="roundRect">
            <a:avLst>
              <a:gd name="adj" fmla="val 235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3400" y="2329457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954833"/>
            <a:ext cx="4928592" cy="642491"/>
          </a:xfrm>
          <a:prstGeom prst="roundRect">
            <a:avLst>
              <a:gd name="adj" fmla="val 237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3400" y="3069133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708" y="1464461"/>
            <a:ext cx="171475" cy="1524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8192" y="1750218"/>
            <a:ext cx="6272807" cy="698599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5990" y="2032792"/>
            <a:ext cx="152396" cy="1333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538192" y="2601217"/>
            <a:ext cx="6272807" cy="698599"/>
          </a:xfrm>
          <a:prstGeom prst="roundRect">
            <a:avLst>
              <a:gd name="adj" fmla="val 163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0752" y="2883759"/>
            <a:ext cx="142871" cy="1333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0990" y="304673"/>
            <a:ext cx="875980" cy="222879"/>
          </a:xfrm>
          <a:prstGeom prst="rect">
            <a:avLst/>
          </a:prstGeom>
          <a:solidFill>
            <a:srgbClr val="FF8B00"/>
          </a:solidFill>
        </p:spPr>
        <p:txBody>
          <a:bodyPr wrap="none" lIns="114297" rIns="114297" tIns="30479" bIns="30479">
            <a:spAutoFit/>
          </a:bodyPr>
          <a:lstStyle/>
          <a:p>
            <a:pPr algn="l"/>
            <a:r>
              <a:rPr sz="947" b="1" i="0">
                <a:solidFill>
                  <a:srgbClr val="3E3E3E"/>
                </a:solidFill>
                <a:latin typeface="Century Gothic"/>
              </a:rPr>
              <a:t>Step 5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990" y="582647"/>
            <a:ext cx="3489932" cy="37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5" b="0" i="0">
                <a:solidFill>
                  <a:srgbClr val="333333"/>
                </a:solidFill>
                <a:latin typeface="Century Gothic"/>
              </a:rPr>
              <a:t>Install Required 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90" y="988342"/>
            <a:ext cx="9174726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Libraries are ready-made code blocks — installing them now means you never have to wait during the workshop.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70" y="1635877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1597778"/>
            <a:ext cx="3815857" cy="390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3" b="0" i="0">
                <a:solidFill>
                  <a:srgbClr val="333333"/>
                </a:solidFill>
                <a:latin typeface="Microsoft YaHei"/>
              </a:rPr>
              <a:t>Open Arduino IDE → go to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>
                <a:solidFill>
                  <a:srgbClr val="333333"/>
                </a:solidFill>
                <a:latin typeface="Microsoft YaHei"/>
              </a:rPr>
              <a:t>Sketch → Include Library → Manage Libraries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9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70" y="23865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2348449"/>
            <a:ext cx="4114101" cy="38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Search for and install each library listed on the right — click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Install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when prompted.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070" y="3126205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3088106"/>
            <a:ext cx="2761734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When asked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"Install all dependencies?"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3311194"/>
            <a:ext cx="246125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1">
                <a:solidFill>
                  <a:srgbClr val="2C46FB"/>
                </a:solidFill>
                <a:latin typeface="Century Gothic"/>
              </a:rPr>
              <a:t>Always click "Install All" — don't skip this!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0810" y="1473956"/>
            <a:ext cx="116484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3" b="1" i="0">
                <a:solidFill>
                  <a:srgbClr val="333333"/>
                </a:solidFill>
                <a:latin typeface="Century Gothic"/>
              </a:rPr>
              <a:t>Libraries to 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453" y="1902571"/>
            <a:ext cx="1552982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70" b="1" i="0">
                <a:solidFill>
                  <a:srgbClr val="2C46FB"/>
                </a:solidFill>
                <a:latin typeface="Century Gothic"/>
              </a:rPr>
              <a:t>LiquidCrystal I2C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0" tooltip="Anna university hardware session plan.pdf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453" y="2118068"/>
            <a:ext cx="1613851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16x2 LCD display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453" y="2753549"/>
            <a:ext cx="1128088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70" b="1" i="0">
                <a:solidFill>
                  <a:srgbClr val="2C46FB"/>
                </a:solidFill>
                <a:latin typeface="Century Gothic"/>
              </a:rPr>
              <a:t>ESP32Servo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0" tooltip="Anna university hardware session plan.pdf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453" y="2969046"/>
            <a:ext cx="1927573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333333"/>
                </a:solidFill>
                <a:latin typeface="Century Gothic"/>
              </a:rPr>
              <a:t>Servo motor control for ESP32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304800"/>
            <a:ext cx="5334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9090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372" y="1667875"/>
            <a:ext cx="167576" cy="1675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9090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870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49960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9383" y="1667875"/>
            <a:ext cx="157103" cy="1666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49960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2741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0831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4920" y="1667875"/>
            <a:ext cx="167576" cy="16757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20831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00" y="5016698"/>
            <a:ext cx="3881139" cy="1612701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9090" y="5705623"/>
            <a:ext cx="348495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4900" y="5016698"/>
            <a:ext cx="7366099" cy="1612701"/>
          </a:xfrm>
          <a:prstGeom prst="roundRect">
            <a:avLst>
              <a:gd name="adj" fmla="val 7087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1430" y="5731525"/>
            <a:ext cx="125645" cy="1827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0990" y="464778"/>
            <a:ext cx="5182065" cy="409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80" b="0" i="0">
                <a:solidFill>
                  <a:srgbClr val="333333"/>
                </a:solidFill>
                <a:latin typeface="Century Gothic"/>
              </a:rPr>
              <a:t>Troubleshooting Common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940421"/>
            <a:ext cx="5555912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Don't panic if something goes wrong — most issues have a simple 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075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075" y="2263916"/>
            <a:ext cx="1820271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Arduino IDE won't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075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075" y="2926036"/>
            <a:ext cx="3279494" cy="647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Run installer as Administrator — right-click the installer and select "Run as administrator"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1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9849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9849" y="2263916"/>
            <a:ext cx="2054074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CP2102 driver not installing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9849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9849" y="2926036"/>
            <a:ext cx="3224280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Temporarily disable antivirus during installation, then re-enable it once done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2" tooltip="Guide to Installing ESP32 Drivers and Setting Up Ardu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0623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0623" y="2263916"/>
            <a:ext cx="1762825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"Board not found" 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0623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0623" y="2926036"/>
            <a:ext cx="3145552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3" b="0" i="0">
                <a:solidFill>
                  <a:srgbClr val="333333"/>
                </a:solidFill>
                <a:latin typeface="Microsoft YaHei"/>
              </a:rPr>
              <a:t>Board Manager URL not saved correctly — re-check File → Preferences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3" tooltip="Complete ESP 32 Arduino IDE Setup &amp; Configuration Guide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075" y="5168969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075" y="5376579"/>
            <a:ext cx="1434071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Library won't install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075" y="5821564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075" y="6038698"/>
            <a:ext cx="3208207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Check your internet connection, then close and reopen Library Manager and try again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7518" y="5725721"/>
            <a:ext cx="511911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D5A2"/>
                </a:solidFill>
                <a:latin typeface="Century Gothic"/>
              </a:rPr>
              <a:t>When in doubt:</a:t>
            </a:r>
            <a:r>
              <a:rPr sz="1127" b="0" i="0">
                <a:solidFill>
                  <a:srgbClr val="FFFFFF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FFFF"/>
                </a:solidFill>
                <a:latin typeface="Century Gothic"/>
              </a:rPr>
              <a:t>restart Arduino IDE and try again — solves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most issues!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220390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3400" y="1319361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1439288"/>
            <a:ext cx="133361" cy="952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1844873"/>
            <a:ext cx="5623619" cy="624482"/>
          </a:xfrm>
          <a:prstGeom prst="roundRect">
            <a:avLst>
              <a:gd name="adj" fmla="val 183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3400" y="1989534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267" y="2109444"/>
            <a:ext cx="133361" cy="9526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2560736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400" y="2659707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67" y="2779600"/>
            <a:ext cx="133361" cy="952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1000" y="3185219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400" y="3284190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267" y="3404068"/>
            <a:ext cx="133361" cy="9526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87380" y="1220390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39780" y="1319361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0502" y="1439288"/>
            <a:ext cx="133361" cy="952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87380" y="1844873"/>
            <a:ext cx="5623619" cy="624482"/>
          </a:xfrm>
          <a:prstGeom prst="roundRect">
            <a:avLst>
              <a:gd name="adj" fmla="val 183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9780" y="1989534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1000" y="2080862"/>
            <a:ext cx="152396" cy="15239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990" y="6451388"/>
            <a:ext cx="167576" cy="1675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0990" y="375186"/>
            <a:ext cx="4812237" cy="409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80" b="0" i="0">
                <a:solidFill>
                  <a:srgbClr val="2C46FB"/>
                </a:solidFill>
                <a:latin typeface="Century Gothic"/>
              </a:rPr>
              <a:t>Quick Pre-Workshop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0" y="866158"/>
            <a:ext cx="7867453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333333"/>
                </a:solidFill>
                <a:latin typeface="Century Gothic"/>
              </a:rPr>
              <a:t>Run through this list the night before the workshop — if all boxes are checked, you are fully 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606" y="1389722"/>
            <a:ext cx="360408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Arduino IDE 2.x installed and opens without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606" y="1953320"/>
            <a:ext cx="4595846" cy="40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CP2102 driver installed (you will verify it works when you plug in your ESP32 on workshop 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606" y="2730034"/>
            <a:ext cx="359857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ESP32 board manager URL added in Preferences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606" y="3354502"/>
            <a:ext cx="417348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"esp32 by Espressif Systems" installed via Boards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1841" y="1389722"/>
            <a:ext cx="365855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LiquidCrystal I2C and ESP32Servo libraries installed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1841" y="1953320"/>
            <a:ext cx="4691242" cy="40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No hardware needed — the ESP32 board and USB cable will be provided for you on workshop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944" y="6441120"/>
            <a:ext cx="5181768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Tick every box above and you are</a:t>
            </a:r>
            <a:r>
              <a:rPr sz="1070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2C46FB"/>
                </a:solidFill>
                <a:latin typeface="Century Gothic"/>
              </a:rPr>
              <a:t>100% workshop-ready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— see you there!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069627"/>
            <a:ext cx="571500" cy="38100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6" y="409564"/>
            <a:ext cx="2332376" cy="5238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7" b="0" i="0">
                <a:solidFill>
                  <a:srgbClr val="333333"/>
                </a:solidFill>
                <a:latin typeface="Century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332424"/>
            <a:ext cx="19153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953" y="1332424"/>
            <a:ext cx="398358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  <a:hlinkClick r:id="rId3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How to Install ESP32 in Arduino IDE (2026): Complete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1652397"/>
            <a:ext cx="19153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953" y="1652397"/>
            <a:ext cx="3730878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  <a:hlinkClick r:id="rId4" tooltip="Installing - - — Arduino ESP32 latest documentation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Installing - - — Arduino ESP32 latest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1972369"/>
            <a:ext cx="19153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</a:rPr>
              <a:t>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953" y="1972369"/>
            <a:ext cx="396438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  <a:hlinkClick r:id="rId5" tooltip="Guide to Installing ESP32 Drivers and Setting Up Ardu...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Guide to Installing ESP32 Drivers and Setting Up Ardu...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2292342"/>
            <a:ext cx="19153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953" y="2292342"/>
            <a:ext cx="432647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  <a:hlinkClick r:id="rId6" tooltip="Complete ESP 32 Arduino IDE Setup &amp; Configuration Guide">
                  <a:extLst>
                    <a:ext uri="{A12FA001-AC4F-418D-AE19-62706E023703}">
                      <ns3:hlinkClr xmlns:ns3="http://schemas.microsoft.com/office/drawing/2018/hyperlinkcolor" val="tx"/>
                    </a:ext>
                  </a:extLst>
                </a:hlinkClick>
              </a:rPr>
              <a:t>Complete ESP 32 Arduino IDE Setup &amp; Configuration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2612314"/>
            <a:ext cx="19153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</a:rPr>
              <a:t>[5]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953" y="2612314"/>
            <a:ext cx="3092571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840E5"/>
                </a:solidFill>
                <a:latin typeface="Century Gothic"/>
                <a:hlinkClick r:id="rId7" tooltip="Anna university hardware session plan.pdf">
                  <a:extLst>
                    <a:ext uri="{A12FA001-AC4F-418D-AE19-62706E023703}">
                      <ns4:hlinkClr xmlns:ns4="http://schemas.microsoft.com/office/drawing/2018/hyperlinkcolor" val="tx"/>
                    </a:ext>
                  </a:extLst>
                </a:hlinkClick>
              </a:rPr>
              <a:t>Anna university hardware session plan.pdf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391115"/>
            <a:ext cx="2987649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333333"/>
                </a:solidFill>
                <a:latin typeface="Century Gothic"/>
              </a:rPr>
              <a:t>Anna University IoT Workshop |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2939" y="6391115"/>
            <a:ext cx="41536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333333"/>
                </a:solidFill>
                <a:latin typeface="Century Gothic"/>
              </a:rPr>
              <a:t>12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91200" y="3372594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78275" y="1984424"/>
            <a:ext cx="3234996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Anna University IoT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9846" y="2376725"/>
            <a:ext cx="7531854" cy="790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736" b="0" i="0">
                <a:solidFill>
                  <a:srgbClr val="FFFFFF"/>
                </a:solidFill>
                <a:latin typeface="Century Gothic"/>
              </a:rPr>
              <a:t>IOT Workshop Prep-Book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6380" y="3642923"/>
            <a:ext cx="4818785" cy="21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2" b="0" i="0">
                <a:solidFill>
                  <a:srgbClr val="FFFFFF"/>
                </a:solidFill>
                <a:latin typeface="Century Gothic"/>
              </a:rPr>
              <a:t>Your Pre-Workshop Setup Guide — Get Ready to Build!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6810" y="4160981"/>
            <a:ext cx="5738073" cy="6780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Hi guys! Super excited to have you all at the workshop. This guide walks you through everything — step by step — so on workshop day you just plug in your ESP32 and start coding. No stress, promise!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439" y="6222348"/>
            <a:ext cx="316281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Century Gothic"/>
              </a:rPr>
              <a:t>Anna University IoT Workshop | 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180" y="1180802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580" y="1295102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125" y="1424487"/>
            <a:ext cx="152396" cy="1066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49131" y="1180802"/>
            <a:ext cx="5646390" cy="808880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1531" y="1295102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6981" y="1401628"/>
            <a:ext cx="114297" cy="1523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6180" y="3139678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580" y="3253978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125" y="3360454"/>
            <a:ext cx="152396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49131" y="3139678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1531" y="3253978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7934" y="3383314"/>
            <a:ext cx="152369" cy="1066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96180" y="4930229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580" y="5044529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125" y="5150961"/>
            <a:ext cx="152396" cy="1523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49131" y="4930229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1531" y="5044529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4320" y="5159428"/>
            <a:ext cx="139711" cy="13547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6170" y="344677"/>
            <a:ext cx="5349195" cy="37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5" b="0" i="0">
                <a:solidFill>
                  <a:srgbClr val="2C46FB"/>
                </a:solidFill>
                <a:latin typeface="Century Gothic"/>
              </a:rPr>
              <a:t>What You Will Need Before You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170" y="796061"/>
            <a:ext cx="8741052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333333"/>
                </a:solidFill>
                <a:latin typeface="Century Gothic"/>
              </a:rPr>
              <a:t>Show up with the right gear and a prepped laptop — nothing worse than missing a cable on workshop 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525" y="1304594"/>
            <a:ext cx="160641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Your Windows Laptop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525" y="1538695"/>
            <a:ext cx="268523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Windows 10 or Windows 11 — both are 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332" y="1304594"/>
            <a:ext cx="159956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 USB Data Cable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4" tooltip="Anna university hardware session plan.pdf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332" y="1538695"/>
            <a:ext cx="4581708" cy="330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Type-C or Micro-USB depending on your ESP32 board.</a:t>
            </a:r>
            <a:r>
              <a:rPr sz="957" b="0" i="0">
                <a:solidFill>
                  <a:srgbClr val="B36200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B36200"/>
                </a:solidFill>
                <a:latin typeface="Century Gothic"/>
              </a:rPr>
              <a:t>NOT a charge-only cable — it won't work!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525" y="3263421"/>
            <a:ext cx="2592521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Your ESP32 Development Board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4" tooltip="Anna university hardware session plan.pdf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525" y="3497522"/>
            <a:ext cx="321267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30-pin ESP32 with Type-C / Micro-USB dual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332" y="3263421"/>
            <a:ext cx="215408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 Stable Internet Connection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332" y="3497522"/>
            <a:ext cx="3336791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Needed to download software and board packages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525" y="5053927"/>
            <a:ext cx="245456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About 30–45 Minutes of Free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525" y="5288028"/>
            <a:ext cx="376272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Set aside some time to go through this guide without rushing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332" y="5053927"/>
            <a:ext cx="1607898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You're Ready to Build!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332" y="5288028"/>
            <a:ext cx="378609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Once these are sorted, the fun part begins on workshop 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737443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34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386" y="1933377"/>
            <a:ext cx="213265" cy="2132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766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90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5572" y="1933377"/>
            <a:ext cx="159949" cy="2132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46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1106" y="1933377"/>
            <a:ext cx="199936" cy="21209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678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202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9969" y="1933377"/>
            <a:ext cx="213265" cy="21326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1000" y="6209704"/>
            <a:ext cx="11430000" cy="419695"/>
          </a:xfrm>
          <a:prstGeom prst="roundRect">
            <a:avLst>
              <a:gd name="adj" fmla="val 27234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930" y="6335603"/>
            <a:ext cx="115208" cy="167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0990" y="314317"/>
            <a:ext cx="5665000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Step 1 — Download and Install Arduino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90" y="906935"/>
            <a:ext cx="8112269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Arduino IDE 2.x is the modern standard — download it once and you are set for the entire workshop.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876" y="1500894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2278055"/>
            <a:ext cx="2237426" cy="876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arduino.cc/en/software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and download the latest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Arduino IDE 2.x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installer for Windows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3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9404" y="1500894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8914" y="2278055"/>
            <a:ext cx="2372409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Run the downloaded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.exe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file — click through the install wizard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8914" y="2786588"/>
            <a:ext cx="2289365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3" b="0" i="0">
                <a:solidFill>
                  <a:srgbClr val="B36200"/>
                </a:solidFill>
                <a:latin typeface="Microsoft YaHei"/>
              </a:rPr>
              <a:t>Next → Agree → Install → Finish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932" y="1500894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1" y="2278055"/>
            <a:ext cx="2234747" cy="647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When Windows asks about allowing app changes — click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0459" y="1500894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9969" y="2278055"/>
            <a:ext cx="2381041" cy="647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Launch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Arduino IDE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— if it opens without errors, you are good to move on!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881" y="6318042"/>
            <a:ext cx="6238421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Pro tip: As of 2026, Arduino IDE 2.x is the recommended standard for all ESP32 projects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D5A2"/>
                </a:solidFill>
                <a:latin typeface="Century Gothic"/>
                <a:hlinkClick r:id="rId13" tooltip="How to Install ESP32 in Arduino IDE (2026): Complete 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212" y="1449437"/>
            <a:ext cx="28575" cy="4997201"/>
          </a:xfrm>
          <a:prstGeom prst="roundRect">
            <a:avLst>
              <a:gd name="adj" fmla="val 50000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66676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800" y="1380827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355949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6800" y="2470100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445222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6800" y="3559373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534495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6800" y="4648646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623768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800" y="573791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3452" y="6249583"/>
            <a:ext cx="129477" cy="129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0990" y="304792"/>
            <a:ext cx="900685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A85C00"/>
                </a:solidFill>
                <a:latin typeface="Century Gothic"/>
              </a:rPr>
              <a:t>Step 2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990" y="516123"/>
            <a:ext cx="3689505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Install the CP2102 USB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90" y="950541"/>
            <a:ext cx="6527289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1">
                <a:solidFill>
                  <a:srgbClr val="2C46FB"/>
                </a:solidFill>
                <a:latin typeface="Century Gothic"/>
              </a:rPr>
              <a:t>Without this driver, your laptop will never see your ESP32 — this is the most important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8986" y="1447466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3452" y="1375137"/>
            <a:ext cx="8063603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Most ESP32 boards use a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CP210x USB-to-UART bridge chip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(Silicon Labs) to communicate with your laptop.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8986" y="2536711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3452" y="2464383"/>
            <a:ext cx="8404113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If the driver is missing, your board will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not appear in Device Manager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and no COM port will show in Arduino IDE.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8986" y="3625957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3452" y="3574464"/>
            <a:ext cx="9157760" cy="218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Download the driver: go to</a:t>
            </a:r>
            <a:r>
              <a:rPr sz="957" b="0" i="0">
                <a:solidFill>
                  <a:srgbClr val="2C46FB"/>
                </a:solidFill>
                <a:highlight>
                  <a:srgbClr val="EEF3FF"/>
                </a:highlight>
                <a:latin typeface="Century Gothic"/>
              </a:rPr>
              <a:t> </a:t>
            </a:r>
            <a:r>
              <a:rPr sz="957" b="0" i="0">
                <a:solidFill>
                  <a:srgbClr val="2C46FB"/>
                </a:solidFill>
                <a:highlight>
                  <a:srgbClr val="EEF3FF"/>
                </a:highlight>
                <a:latin typeface="Century Gothic"/>
              </a:rPr>
              <a:t>silabs.com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83" b="0" i="0">
                <a:solidFill>
                  <a:srgbClr val="333333"/>
                </a:solidFill>
                <a:latin typeface="Microsoft YaHei"/>
              </a:rPr>
              <a:t>→ search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"CP210x USB to UART Bridge VCP Drivers"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83" b="0" i="0">
                <a:solidFill>
                  <a:srgbClr val="333333"/>
                </a:solidFill>
                <a:latin typeface="Microsoft YaHei"/>
              </a:rPr>
              <a:t>→ download the Windows version.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8986" y="4715203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3452" y="4642874"/>
            <a:ext cx="563374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Run the installer, follow the prompts, and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restart your laptop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after installation.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8986" y="5804449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3452" y="5732120"/>
            <a:ext cx="9842948" cy="411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Verify: open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Device Manager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83" b="0" i="0">
                <a:solidFill>
                  <a:srgbClr val="333333"/>
                </a:solidFill>
                <a:latin typeface="Microsoft YaHei"/>
              </a:rPr>
              <a:t>(right-click Start → Device Manager) — plug in your ESP32 and look for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15" b="1" i="0">
                <a:solidFill>
                  <a:srgbClr val="333333"/>
                </a:solidFill>
                <a:latin typeface="Century Gothic"/>
              </a:rPr>
              <a:t>"Silicon Labs CP210x"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under Ports (COM &amp; LPT).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 tooltip="Guide to Installing ESP32 Drivers and Setting Up Ardu...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3799" y="6225175"/>
            <a:ext cx="3859463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B36200"/>
                </a:solidFill>
                <a:latin typeface="Century Gothic"/>
              </a:rPr>
              <a:t>If you see "Silicon Labs CP210x" listed — you're good to go!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737443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3400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386" y="1816385"/>
            <a:ext cx="198072" cy="1540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6900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140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6841" y="1820636"/>
            <a:ext cx="187051" cy="1455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21409" y="3059757"/>
            <a:ext cx="2461319" cy="756939"/>
          </a:xfrm>
          <a:prstGeom prst="roundRect">
            <a:avLst>
              <a:gd name="adj" fmla="val 15100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4080" y="3361943"/>
            <a:ext cx="152396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5701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41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1642" y="1806756"/>
            <a:ext cx="173324" cy="1733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4502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9742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97199" y="1794375"/>
            <a:ext cx="198085" cy="1980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197429" y="3257847"/>
            <a:ext cx="2461319" cy="971847"/>
          </a:xfrm>
          <a:prstGeom prst="roundRect">
            <a:avLst>
              <a:gd name="adj" fmla="val 98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4357" y="3356734"/>
            <a:ext cx="104772" cy="1523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0990" y="314317"/>
            <a:ext cx="5902971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Step 3 — Add the ESP32 Board Manager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906935"/>
            <a:ext cx="5487155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This one URL is the key that unlocks ESP32 support inside Arduino 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" y="1454460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386" y="2083839"/>
            <a:ext cx="131292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Open Preferences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386" y="2316898"/>
            <a:ext cx="2311391" cy="407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3" b="0" i="0">
                <a:solidFill>
                  <a:srgbClr val="333333"/>
                </a:solidFill>
                <a:latin typeface="Microsoft YaHei"/>
              </a:rPr>
              <a:t>Open Arduino IDE → go to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>
                <a:solidFill>
                  <a:srgbClr val="333333"/>
                </a:solidFill>
                <a:latin typeface="Microsoft YaHei"/>
              </a:rPr>
              <a:t>File → Preferences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5" tooltip="Installing - - — Arduino ESP32 latest documentation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5621" y="1454460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324" y="2083839"/>
            <a:ext cx="93670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Paste the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7312" y="2316898"/>
            <a:ext cx="1961059" cy="624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Find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"Additional boards manager URLs"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and paste this URL exactly: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5" tooltip="Installing - - — Arduino ESP32 latest documentation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7854" y="3175763"/>
            <a:ext cx="1841106" cy="5244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https://espressif.github.io/arduino-esp32/package_esp32_index.json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3558" y="1454460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261" y="2083839"/>
            <a:ext cx="970483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Save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261" y="2316898"/>
            <a:ext cx="2375237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Click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OK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to save your preferences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1496" y="1454460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7199" y="2083839"/>
            <a:ext cx="767636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You're Set!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270" y="2316898"/>
            <a:ext cx="1964035" cy="822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Arduino IDE now knows where to find the ESP32 board package — like telling Arduino where to go shopping for ESP32 stuff!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270" y="3360603"/>
            <a:ext cx="1923853" cy="765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Next up: we'll actually download and install the ESP32 board package in Step 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20401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34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731" y="1714326"/>
            <a:ext cx="119933" cy="102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6990" y="3760409"/>
            <a:ext cx="68547" cy="1199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956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66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0306" y="1697193"/>
            <a:ext cx="137060" cy="13708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9130" y="3760409"/>
            <a:ext cx="68547" cy="11997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1054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388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22447" y="1697193"/>
            <a:ext cx="137067" cy="13706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1271" y="3760409"/>
            <a:ext cx="68547" cy="1199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467599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00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01721" y="1697193"/>
            <a:ext cx="102827" cy="13706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13412" y="3760409"/>
            <a:ext cx="68547" cy="11997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8298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822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32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6728" y="1697193"/>
            <a:ext cx="137067" cy="13706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81000" y="6157168"/>
            <a:ext cx="11430000" cy="472231"/>
          </a:xfrm>
          <a:prstGeom prst="roundRect">
            <a:avLst>
              <a:gd name="adj" fmla="val 24204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3400" y="6256139"/>
            <a:ext cx="274290" cy="274290"/>
          </a:xfrm>
          <a:prstGeom prst="ellipse">
            <a:avLst/>
          </a:prstGeom>
          <a:solidFill>
            <a:srgbClr val="A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8629" y="6332180"/>
            <a:ext cx="83797" cy="12188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0990" y="304792"/>
            <a:ext cx="86303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A85C00"/>
                </a:solidFill>
                <a:latin typeface="Century Gothic"/>
              </a:rPr>
              <a:t>Step 4 of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990" y="506598"/>
            <a:ext cx="4228101" cy="333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Install the ESP32 Board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990" y="918246"/>
            <a:ext cx="694087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2C46FB"/>
                </a:solidFill>
                <a:latin typeface="Century Gothic"/>
              </a:rPr>
              <a:t>Installing the board package is what lets Arduino IDE compile and upload code to your ESP32.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" y="1684841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386" y="2268530"/>
            <a:ext cx="1542267" cy="412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66" b="0" i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 → Boards Manager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20" tooltip="Complete ESP 32 Arduino IDE Setup &amp; Configuration Guide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386" y="2019100"/>
            <a:ext cx="142960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Open Boards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9824" y="1684841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5527" y="2268530"/>
            <a:ext cx="1491369" cy="3781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In the search box, type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esp32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5527" y="2019100"/>
            <a:ext cx="102287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Search for ESP32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1965" y="1684841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668" y="2268530"/>
            <a:ext cx="1646444" cy="604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Find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esp32 by Espressif Systems</a:t>
            </a:r>
            <a:r>
              <a:rPr sz="991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865" b="0" i="0">
                <a:solidFill>
                  <a:srgbClr val="333333"/>
                </a:solidFill>
                <a:latin typeface="Microsoft YaHei"/>
              </a:rPr>
              <a:t>→ click Install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21" tooltip="Installing - - — Arduino ESP32 latest documentation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668" y="2019100"/>
            <a:ext cx="1198929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Install the 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4106" y="1684841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9809" y="2268530"/>
            <a:ext cx="1567865" cy="564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This can take a few minutes — grab a snack while it installs!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9809" y="2019100"/>
            <a:ext cx="114460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Wait for Download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6247" y="1684841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1950" y="2268530"/>
            <a:ext cx="1581259" cy="811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66" b="0" i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 → ESP32 Arduino</a:t>
            </a:r>
            <a:r>
              <a:rPr sz="991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865" b="0" i="0">
                <a:solidFill>
                  <a:srgbClr val="333333"/>
                </a:solidFill>
                <a:latin typeface="Microsoft YaHei"/>
              </a:rPr>
              <a:t>→ select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DOIT ESP32 DEVKIT V1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20" tooltip="Complete ESP 32 Arduino IDE Setup &amp; Configuration Guide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1950" y="2019100"/>
            <a:ext cx="1110974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Select Your 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228" y="6265507"/>
            <a:ext cx="9301078" cy="186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47" b="1" i="0">
                <a:solidFill>
                  <a:srgbClr val="AA5C00"/>
                </a:solidFill>
                <a:latin typeface="Century Gothic"/>
              </a:rPr>
              <a:t>Pro Tip: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Select the board name that matches exactly what's printed on your ESP32 — if unsure,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DOIT ESP32 DEVKIT V1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57" b="0" i="0">
                <a:solidFill>
                  <a:srgbClr val="333333"/>
                </a:solidFill>
                <a:latin typeface="Century Gothic"/>
              </a:rPr>
              <a:t>works for most 30-pin boards.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464468"/>
            <a:ext cx="4928592" cy="659308"/>
          </a:xfrm>
          <a:prstGeom prst="roundRect">
            <a:avLst>
              <a:gd name="adj" fmla="val 23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3400" y="157876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215157"/>
            <a:ext cx="4928592" cy="648295"/>
          </a:xfrm>
          <a:prstGeom prst="roundRect">
            <a:avLst>
              <a:gd name="adj" fmla="val 235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3400" y="2329457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954833"/>
            <a:ext cx="4928592" cy="642491"/>
          </a:xfrm>
          <a:prstGeom prst="roundRect">
            <a:avLst>
              <a:gd name="adj" fmla="val 237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3400" y="3069133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708" y="1464461"/>
            <a:ext cx="171475" cy="1524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8192" y="1750218"/>
            <a:ext cx="6272807" cy="534739"/>
          </a:xfrm>
          <a:prstGeom prst="roundRect">
            <a:avLst>
              <a:gd name="adj" fmla="val 21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3637" y="1941265"/>
            <a:ext cx="85722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538192" y="2353419"/>
            <a:ext cx="6272807" cy="515689"/>
          </a:xfrm>
          <a:prstGeom prst="roundRect">
            <a:avLst>
              <a:gd name="adj" fmla="val 221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90301" y="2534926"/>
            <a:ext cx="152396" cy="1523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538192" y="2937569"/>
            <a:ext cx="6272807" cy="534739"/>
          </a:xfrm>
          <a:prstGeom prst="roundRect">
            <a:avLst>
              <a:gd name="adj" fmla="val 21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0776" y="3128586"/>
            <a:ext cx="171445" cy="1523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538192" y="3540769"/>
            <a:ext cx="6272807" cy="515689"/>
          </a:xfrm>
          <a:prstGeom prst="roundRect">
            <a:avLst>
              <a:gd name="adj" fmla="val 221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0301" y="3731771"/>
            <a:ext cx="152396" cy="13334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538192" y="4124920"/>
            <a:ext cx="6272807" cy="534739"/>
          </a:xfrm>
          <a:prstGeom prst="roundRect">
            <a:avLst>
              <a:gd name="adj" fmla="val 21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90301" y="4325432"/>
            <a:ext cx="152396" cy="13334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538192" y="4728120"/>
            <a:ext cx="6272807" cy="534739"/>
          </a:xfrm>
          <a:prstGeom prst="roundRect">
            <a:avLst>
              <a:gd name="adj" fmla="val 21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95063" y="4928606"/>
            <a:ext cx="142871" cy="1333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0990" y="304673"/>
            <a:ext cx="875980" cy="222879"/>
          </a:xfrm>
          <a:prstGeom prst="rect">
            <a:avLst/>
          </a:prstGeom>
          <a:solidFill>
            <a:srgbClr val="FF8B00"/>
          </a:solidFill>
        </p:spPr>
        <p:txBody>
          <a:bodyPr wrap="none" lIns="114297" rIns="114297" tIns="30479" bIns="30479">
            <a:spAutoFit/>
          </a:bodyPr>
          <a:lstStyle/>
          <a:p>
            <a:pPr algn="l"/>
            <a:r>
              <a:rPr sz="947" b="1" i="0">
                <a:solidFill>
                  <a:srgbClr val="3E3E3E"/>
                </a:solidFill>
                <a:latin typeface="Century Gothic"/>
              </a:rPr>
              <a:t>Step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0" y="582647"/>
            <a:ext cx="3489932" cy="37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5" b="0" i="0">
                <a:solidFill>
                  <a:srgbClr val="333333"/>
                </a:solidFill>
                <a:latin typeface="Century Gothic"/>
              </a:rPr>
              <a:t>Install Required Libraries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988342"/>
            <a:ext cx="9174726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Libraries are ready-made code blocks — installing them now means you never have to wait during the workshop.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70" y="1635877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1597778"/>
            <a:ext cx="3815857" cy="390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3" b="0" i="0">
                <a:solidFill>
                  <a:srgbClr val="333333"/>
                </a:solidFill>
                <a:latin typeface="Microsoft YaHei"/>
              </a:rPr>
              <a:t>Open Arduino IDE → go to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>
                <a:solidFill>
                  <a:srgbClr val="333333"/>
                </a:solidFill>
                <a:latin typeface="Microsoft YaHei"/>
              </a:rPr>
              <a:t>Sketch → Include Library → Manage Libraries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7" tooltip="How to Install ESP32 in Arduino IDE (2026): Complete 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070" y="2386548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476" y="2348449"/>
            <a:ext cx="4114101" cy="38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Search for and install each library listed on the right — click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Install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when prompted.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070" y="3126205"/>
            <a:ext cx="9144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15" b="1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76" y="3088106"/>
            <a:ext cx="2761734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When asked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"Install all dependencies?"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3311194"/>
            <a:ext cx="2461257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1">
                <a:solidFill>
                  <a:srgbClr val="2C46FB"/>
                </a:solidFill>
                <a:latin typeface="Century Gothic"/>
              </a:rPr>
              <a:t>Always click "Install All" — don't skip this!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0810" y="1473956"/>
            <a:ext cx="1164848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3" b="1" i="0">
                <a:solidFill>
                  <a:srgbClr val="333333"/>
                </a:solidFill>
                <a:latin typeface="Century Gothic"/>
              </a:rPr>
              <a:t>Libraries to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9255" y="1833963"/>
            <a:ext cx="2138606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DHT sensor library</a:t>
            </a:r>
            <a:r>
              <a:rPr sz="901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901" b="0" i="0">
                <a:solidFill>
                  <a:srgbClr val="2C46FB"/>
                </a:solidFill>
                <a:latin typeface="Century Gothic"/>
              </a:rPr>
              <a:t>by Adafruit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Anna university hardware session plan.pdf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9255" y="2042763"/>
            <a:ext cx="2298146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Temperature &amp; humidity sensor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9255" y="2437148"/>
            <a:ext cx="1516818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Adafruit Unified Sensor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9255" y="2626899"/>
            <a:ext cx="2184444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Required dependency for DHT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9255" y="3021284"/>
            <a:ext cx="1389275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Adafruit SSD1306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Anna university hardware session plan.pdf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9255" y="3230084"/>
            <a:ext cx="1125261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OLED display driver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9255" y="3624469"/>
            <a:ext cx="1342991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Adafruit GFX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9255" y="3814220"/>
            <a:ext cx="2046484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Graphics support for OLED displays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9255" y="4208605"/>
            <a:ext cx="1389126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LiquidCrystal I2C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Anna university hardware session plan.pdf">
                  <a:extLst>
                    <a:ext uri="{A12FA001-AC4F-418D-AE19-62706E023703}">
                      <ns3:hlinkClr xmlns:ns3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9255" y="4417405"/>
            <a:ext cx="143511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16x2 LCD display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9255" y="4811790"/>
            <a:ext cx="101647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25" b="1" i="0">
                <a:solidFill>
                  <a:srgbClr val="2C46FB"/>
                </a:solidFill>
                <a:latin typeface="Century Gothic"/>
              </a:rPr>
              <a:t>ESP32Servo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Anna university hardware session plan.pdf">
                  <a:extLst>
                    <a:ext uri="{A12FA001-AC4F-418D-AE19-62706E023703}">
                      <ns4:hlinkClr xmlns:ns4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9255" y="5020591"/>
            <a:ext cx="171415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1" b="0" i="0">
                <a:solidFill>
                  <a:srgbClr val="333333"/>
                </a:solidFill>
                <a:latin typeface="Century Gothic"/>
              </a:rPr>
              <a:t>Servo motor control for ESP32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529357"/>
            <a:ext cx="2465189" cy="4554289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4780" y="171211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933" y="1784404"/>
            <a:ext cx="119989" cy="1599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7055" y="3732993"/>
            <a:ext cx="83804" cy="1466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94769" y="1529357"/>
            <a:ext cx="2465189" cy="4554289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2350" y="171211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8431" y="1784404"/>
            <a:ext cx="159986" cy="15998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4551" y="3732993"/>
            <a:ext cx="83804" cy="14667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32339" y="1529357"/>
            <a:ext cx="2465189" cy="4554289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9919" y="171211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95927" y="1804402"/>
            <a:ext cx="159986" cy="11998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02047" y="3732993"/>
            <a:ext cx="83804" cy="14667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269908" y="1529357"/>
            <a:ext cx="2465189" cy="4554289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37489" y="1712118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33435" y="1794403"/>
            <a:ext cx="159974" cy="1399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57200" y="6213127"/>
            <a:ext cx="11277600" cy="340072"/>
          </a:xfrm>
          <a:prstGeom prst="roundRect">
            <a:avLst>
              <a:gd name="adj" fmla="val 28008"/>
            </a:avLst>
          </a:prstGeom>
          <a:solidFill>
            <a:srgbClr val="D9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3396" y="6306731"/>
            <a:ext cx="104772" cy="1523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188" y="380990"/>
            <a:ext cx="863032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A85C00"/>
                </a:solidFill>
                <a:latin typeface="Century Gothic"/>
              </a:rPr>
              <a:t>Step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598125"/>
            <a:ext cx="4100856" cy="37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5" b="0" i="0">
                <a:solidFill>
                  <a:srgbClr val="333333"/>
                </a:solidFill>
                <a:latin typeface="Century Gothic"/>
              </a:rPr>
              <a:t>Select Board and COM 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" y="1049509"/>
            <a:ext cx="6105372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2C46FB"/>
                </a:solidFill>
                <a:latin typeface="Century Gothic"/>
              </a:rPr>
              <a:t>Picking the right board and port tells Arduino exactly where to send your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978" y="1778749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764" y="2150214"/>
            <a:ext cx="1906440" cy="395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Plug in your ESP32 using the USB data cable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705" y="5702504"/>
            <a:ext cx="1733476" cy="228594"/>
          </a:xfrm>
          <a:prstGeom prst="rect">
            <a:avLst/>
          </a:prstGeom>
          <a:solidFill>
            <a:srgbClr val="EEF3FF"/>
          </a:solidFill>
        </p:spPr>
        <p:txBody>
          <a:bodyPr wrap="none" lIns="91437" rIns="91437" tIns="38099" bIns="38099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USB Data Cable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4474" y="1778749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2260" y="2150214"/>
            <a:ext cx="1993949" cy="63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In Arduino IDE, go to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>
                <a:solidFill>
                  <a:srgbClr val="333333"/>
                </a:solidFill>
                <a:latin typeface="Microsoft YaHei"/>
              </a:rPr>
              <a:t>Tools → Board → ESP32 Arduino → DOIT ESP32 DEVKIT V1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7" tooltip="Complete ESP 32 Arduino IDE Setup &amp; Configuration Guide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2201" y="5702504"/>
            <a:ext cx="1255601" cy="228594"/>
          </a:xfrm>
          <a:prstGeom prst="rect">
            <a:avLst/>
          </a:prstGeom>
          <a:solidFill>
            <a:srgbClr val="EEF3FF"/>
          </a:solidFill>
        </p:spPr>
        <p:txBody>
          <a:bodyPr wrap="none" lIns="91437" rIns="91437" tIns="38099" bIns="38099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Select Your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970" y="1778749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9756" y="2150214"/>
            <a:ext cx="2060176" cy="844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>
                <a:solidFill>
                  <a:srgbClr val="333333"/>
                </a:solidFill>
                <a:latin typeface="Microsoft YaHei"/>
              </a:rPr>
              <a:t>Tools → Port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and select the COM port that appears (e.g., COM3, COM5 — it will vary per laptop)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9697" y="5702504"/>
            <a:ext cx="1358439" cy="228594"/>
          </a:xfrm>
          <a:prstGeom prst="rect">
            <a:avLst/>
          </a:prstGeom>
          <a:solidFill>
            <a:srgbClr val="EEF3FF"/>
          </a:solidFill>
        </p:spPr>
        <p:txBody>
          <a:bodyPr wrap="none" lIns="91437" rIns="91437" tIns="38099" bIns="38099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Pick Your COM 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9466" y="1778749"/>
            <a:ext cx="91440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7252" y="2150214"/>
            <a:ext cx="1878461" cy="86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If no port shows up: unplug and replug, or go back to Slide 4 and re-check the CP2102 driver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Guide to Installing ESP32 Drivers and Setting Up Ardu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7193" y="5702504"/>
            <a:ext cx="1336115" cy="228594"/>
          </a:xfrm>
          <a:prstGeom prst="rect">
            <a:avLst/>
          </a:prstGeom>
          <a:solidFill>
            <a:srgbClr val="FFF3E0"/>
          </a:solidFill>
        </p:spPr>
        <p:txBody>
          <a:bodyPr wrap="none" lIns="91437" rIns="91437" tIns="38099" bIns="38099">
            <a:spAutoFit/>
          </a:bodyPr>
          <a:lstStyle/>
          <a:p>
            <a:pPr algn="l"/>
            <a:r>
              <a:rPr sz="924" b="0" i="0">
                <a:solidFill>
                  <a:srgbClr val="B75300"/>
                </a:solidFill>
                <a:latin typeface="Century Gothic"/>
              </a:rPr>
              <a:t>Troubleshooting Tip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359" y="6298695"/>
            <a:ext cx="9823005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The COM port number is different on every laptop — COM3 and COM5 are just examples. Look for whichever one appears after you plug in your ESP32.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6180" y="3231653"/>
            <a:ext cx="5395019" cy="700980"/>
          </a:xfrm>
          <a:prstGeom prst="roundRect">
            <a:avLst>
              <a:gd name="adj" fmla="val 16305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180" y="4115395"/>
            <a:ext cx="5395019" cy="629245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9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09270" y="2454473"/>
            <a:ext cx="319980" cy="3199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59735" y="2774453"/>
            <a:ext cx="19050" cy="13707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270" y="2911524"/>
            <a:ext cx="319980" cy="3199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59735" y="3231505"/>
            <a:ext cx="19050" cy="13707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270" y="3368575"/>
            <a:ext cx="319980" cy="3199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9735" y="3688556"/>
            <a:ext cx="19050" cy="13707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270" y="3925341"/>
            <a:ext cx="319980" cy="3199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9735" y="4245322"/>
            <a:ext cx="19050" cy="13707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270" y="4382392"/>
            <a:ext cx="319980" cy="3199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170" y="2174026"/>
            <a:ext cx="853359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A85C00"/>
                </a:solidFill>
                <a:latin typeface="Century Gothic"/>
              </a:rPr>
              <a:t>Step 7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70" y="2406341"/>
            <a:ext cx="2392352" cy="6898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Upload Your First</a:t>
            </a:r>
          </a:p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Test Sketch (Blink!)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746" y="3372509"/>
            <a:ext cx="4872510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If the LED blinks, everything is working perfectly — this is your green light for workshop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305" y="4252359"/>
            <a:ext cx="1064987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78" b="0" i="0">
                <a:solidFill>
                  <a:srgbClr val="B36200"/>
                </a:solidFill>
                <a:latin typeface="Century Gothic"/>
              </a:rPr>
              <a:t>Success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305" y="4414280"/>
            <a:ext cx="4177947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Blue/red LED blinking on your ESP32 = setup 100% complete!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112" y="2155423"/>
            <a:ext cx="1340461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How to run Blink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3083" y="2533437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6661" y="2506500"/>
            <a:ext cx="2398305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4" b="0" i="0">
                <a:solidFill>
                  <a:srgbClr val="333333"/>
                </a:solidFill>
                <a:latin typeface="Microsoft YaHei"/>
              </a:rPr>
              <a:t>File → Examples → 01.Basics → Blink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3083" y="2990477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661" y="2963540"/>
            <a:ext cx="4024509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6" b="0" i="0">
                <a:solidFill>
                  <a:srgbClr val="333333"/>
                </a:solidFill>
                <a:latin typeface="Century Gothic"/>
              </a:rPr>
              <a:t>Makes the built-in LED blink on and off — the classic first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3083" y="3447517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972" y="3420580"/>
            <a:ext cx="5023418" cy="367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36" b="0" i="0">
                <a:solidFill>
                  <a:srgbClr val="333333"/>
                </a:solidFill>
                <a:latin typeface="Century Gothic"/>
              </a:rPr>
              <a:t>Click the Upload button (right arrow icon) — Arduino IDE will compile and flash the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3083" y="4004269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6661" y="3977332"/>
            <a:ext cx="4377074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6" b="0" i="0">
                <a:solidFill>
                  <a:srgbClr val="333333"/>
                </a:solidFill>
                <a:latin typeface="Century Gothic"/>
              </a:rPr>
              <a:t>Watch for "Done uploading" in the output console at the bottom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3083" y="4461309"/>
            <a:ext cx="91440" cy="16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7" b="0" i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6661" y="4434371"/>
            <a:ext cx="4495241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6" b="0" i="0">
                <a:solidFill>
                  <a:srgbClr val="333333"/>
                </a:solidFill>
                <a:latin typeface="Century Gothic"/>
              </a:rPr>
              <a:t>LED starts blinking — congratulations, your setup is 100% complete!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304800"/>
            <a:ext cx="5334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9090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19" y="1667875"/>
            <a:ext cx="125682" cy="1675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9090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870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49960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4620" y="1667883"/>
            <a:ext cx="146629" cy="1675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49960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2741" y="1370855"/>
            <a:ext cx="3688109" cy="349344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0831" y="1553616"/>
            <a:ext cx="396180" cy="39618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4920" y="1667875"/>
            <a:ext cx="167576" cy="16757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20831" y="2592883"/>
            <a:ext cx="329192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00" y="5016698"/>
            <a:ext cx="3881139" cy="1612701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9090" y="5705623"/>
            <a:ext cx="3484959" cy="9525"/>
          </a:xfrm>
          <a:prstGeom prst="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4900" y="5016698"/>
            <a:ext cx="7366099" cy="1612701"/>
          </a:xfrm>
          <a:prstGeom prst="roundRect">
            <a:avLst>
              <a:gd name="adj" fmla="val 7087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1430" y="5731525"/>
            <a:ext cx="125645" cy="1827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0990" y="464778"/>
            <a:ext cx="5182065" cy="409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80" b="0" i="0">
                <a:solidFill>
                  <a:srgbClr val="333333"/>
                </a:solidFill>
                <a:latin typeface="Century Gothic"/>
              </a:rPr>
              <a:t>Troubleshooting Common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940421"/>
            <a:ext cx="5555912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Don't panic if something goes wrong — most issues have a simple 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075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075" y="2263916"/>
            <a:ext cx="2657110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No COM port visible in Arduino 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075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075" y="2926036"/>
            <a:ext cx="3218922" cy="647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Driver not installed or wrong cable (charge-only) — reinstall CP2102 driver and use a data cable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1" tooltip="Guide to Installing ESP32 Drivers and Setting Up Ardu...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9849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9849" y="2263916"/>
            <a:ext cx="2658003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Upload fails / "Connecting..." stuck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9849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9849" y="2926036"/>
            <a:ext cx="3096738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Hold the BOOT button on your ESP32 while clicking Upload, then release it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2" tooltip="How to Install ESP32 in Arduino IDE (2026): Complete ...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0623" y="2056306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0623" y="2263916"/>
            <a:ext cx="1762825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"Board not found" 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0623" y="2708901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0623" y="2926036"/>
            <a:ext cx="3145552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3" b="0" i="0">
                <a:solidFill>
                  <a:srgbClr val="333333"/>
                </a:solidFill>
                <a:latin typeface="Microsoft YaHei"/>
              </a:rPr>
              <a:t>Board Manager URL not saved correctly — re-check File → Preferences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3" tooltip="Complete ESP 32 Arduino IDE Setup &amp; Configuration Guide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075" y="5168969"/>
            <a:ext cx="338873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B36200"/>
                </a:solidFill>
                <a:latin typeface="Century Gothic"/>
              </a:rPr>
              <a:t>Issue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075" y="5376579"/>
            <a:ext cx="1414129" cy="20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83" b="0" i="0">
                <a:solidFill>
                  <a:srgbClr val="333333"/>
                </a:solidFill>
                <a:latin typeface="Century Gothic"/>
              </a:rPr>
              <a:t>Compilation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075" y="5821564"/>
            <a:ext cx="187369" cy="15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24" b="0" i="0">
                <a:solidFill>
                  <a:srgbClr val="2C46FB"/>
                </a:solidFill>
                <a:latin typeface="Century Gothic"/>
              </a:rPr>
              <a:t>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075" y="6038698"/>
            <a:ext cx="3372509" cy="41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 library is missing — re-open Library Manager and install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7518" y="5725721"/>
            <a:ext cx="644305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FFD5A2"/>
                </a:solidFill>
                <a:latin typeface="Century Gothic"/>
              </a:rPr>
              <a:t>When in doubt:</a:t>
            </a:r>
            <a:r>
              <a:rPr sz="1127" b="0" i="0">
                <a:solidFill>
                  <a:srgbClr val="FFFFFF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FFFF"/>
                </a:solidFill>
                <a:latin typeface="Century Gothic"/>
              </a:rPr>
              <a:t>unplug, replug, restart Arduino IDE, and try again — solves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FFD5A2"/>
                </a:solidFill>
                <a:latin typeface="Century Gothic"/>
              </a:rPr>
              <a:t>80% of issues!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220390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3400" y="1319361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1439288"/>
            <a:ext cx="133361" cy="952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1844873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3400" y="1943844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267" y="2063755"/>
            <a:ext cx="133361" cy="9526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2469356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400" y="2568326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67" y="2688222"/>
            <a:ext cx="133361" cy="952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1000" y="3093839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400" y="3192809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267" y="3312689"/>
            <a:ext cx="133361" cy="9526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87380" y="1220390"/>
            <a:ext cx="5623619" cy="624482"/>
          </a:xfrm>
          <a:prstGeom prst="roundRect">
            <a:avLst>
              <a:gd name="adj" fmla="val 183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39780" y="1365051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0502" y="1484977"/>
            <a:ext cx="133361" cy="952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87380" y="1936253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9780" y="2035224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0502" y="2155133"/>
            <a:ext cx="133361" cy="952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87380" y="2560736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9780" y="2659707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0502" y="2779600"/>
            <a:ext cx="133361" cy="952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990" y="6451388"/>
            <a:ext cx="167576" cy="1675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0990" y="375186"/>
            <a:ext cx="4812237" cy="409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80" b="0" i="0">
                <a:solidFill>
                  <a:srgbClr val="2C46FB"/>
                </a:solidFill>
                <a:latin typeface="Century Gothic"/>
              </a:rPr>
              <a:t>Quick Pre-Workshop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866158"/>
            <a:ext cx="7867453" cy="209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39" b="0" i="0">
                <a:solidFill>
                  <a:srgbClr val="333333"/>
                </a:solidFill>
                <a:latin typeface="Century Gothic"/>
              </a:rPr>
              <a:t>Run through this list the night before the workshop — if all boxes are checked, you are fully ready.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606" y="1389722"/>
            <a:ext cx="3604080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Arduino IDE 2.x installed and opens without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606" y="2014189"/>
            <a:ext cx="4675467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CP2102 driver installed and board shows up in Device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606" y="2638656"/>
            <a:ext cx="3598574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ESP32 board manager URL added in 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606" y="3263123"/>
            <a:ext cx="4173482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"esp32 by Espressif Systems" installed via Boards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1841" y="1328853"/>
            <a:ext cx="4767738" cy="40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All 6 libraries installed (DHT, Adafruit Unified Sensor, SSD1306, GFX, LiquidCrystal I2C, ESP32Servo)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1841" y="2105567"/>
            <a:ext cx="4803605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Blink sketch uploaded successfully — LED is blinking on your ESP32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1841" y="2730034"/>
            <a:ext cx="4785746" cy="190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USB data cable packed and ready to bring on workshop day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2" tooltip="Anna university hardware session plan.pdf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944" y="6441120"/>
            <a:ext cx="5181768" cy="17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Tick every box above and you are</a:t>
            </a:r>
            <a:r>
              <a:rPr sz="1070" b="0" i="0">
                <a:solidFill>
                  <a:srgbClr val="2C46FB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2C46FB"/>
                </a:solidFill>
                <a:latin typeface="Century Gothic"/>
              </a:rPr>
              <a:t>100% workshop-ready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— see you there!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80990"/>
            <a:ext cx="11124921" cy="597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57" b="0" i="0">
                <a:solidFill>
                  <a:srgbClr val="333333"/>
                </a:solidFill>
                <a:latin typeface="Century Gothic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351474"/>
            <a:ext cx="11201119" cy="15998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28600" algn="l">
              <a:lnSpc>
                <a:spcPts val="1127"/>
              </a:lnSpc>
              <a:spcAft>
                <a:spcPts val="1319"/>
              </a:spcAft>
              <a:buNone/>
            </a:pPr>
            <a:r>
              <a:rPr sz="1127" b="0" i="0">
                <a:solidFill>
                  <a:srgbClr val="2840E5"/>
                </a:solidFill>
                <a:latin typeface="Century Gothic"/>
              </a:rPr>
              <a:t>[1] 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2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How to Install ESP32 in Arduino IDE (2026): Complete ...</a:t>
            </a:r>
          </a:p>
          <a:p>
            <a:pPr marL="274320" indent="-228600" algn="l">
              <a:lnSpc>
                <a:spcPts val="1127"/>
              </a:lnSpc>
              <a:spcAft>
                <a:spcPts val="1319"/>
              </a:spcAft>
              <a:buNone/>
            </a:pPr>
            <a:r>
              <a:rPr sz="1127" b="0" i="0">
                <a:solidFill>
                  <a:srgbClr val="2840E5"/>
                </a:solidFill>
                <a:latin typeface="Century Gothic"/>
              </a:rPr>
              <a:t>[2] 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3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Installing - - — Arduino ESP32 latest documentation</a:t>
            </a:r>
          </a:p>
          <a:p>
            <a:pPr marL="274320" indent="-228600" algn="l">
              <a:lnSpc>
                <a:spcPts val="1127"/>
              </a:lnSpc>
              <a:spcAft>
                <a:spcPts val="1319"/>
              </a:spcAft>
              <a:buNone/>
            </a:pPr>
            <a:r>
              <a:rPr sz="1127" b="0" i="0">
                <a:solidFill>
                  <a:srgbClr val="2840E5"/>
                </a:solidFill>
                <a:latin typeface="Century Gothic"/>
              </a:rPr>
              <a:t>[3] 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4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Guide to Installing ESP32 Drivers and Setting Up Ardu...</a:t>
            </a:r>
          </a:p>
          <a:p>
            <a:pPr marL="274320" indent="-228600" algn="l">
              <a:lnSpc>
                <a:spcPts val="1127"/>
              </a:lnSpc>
              <a:spcAft>
                <a:spcPts val="1319"/>
              </a:spcAft>
              <a:buNone/>
            </a:pPr>
            <a:r>
              <a:rPr sz="1127" b="0" i="0">
                <a:solidFill>
                  <a:srgbClr val="2840E5"/>
                </a:solidFill>
                <a:latin typeface="Century Gothic"/>
              </a:rPr>
              <a:t>[4] 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5">
                  <a:extLst>
                    <a:ext uri="{A12FA001-AC4F-418D-AE19-62706E023703}">
                      <ns3:hlinkClr xmlns:ns3="http://schemas.microsoft.com/office/drawing/2018/hyperlinkcolor" val="tx"/>
                    </a:ext>
                  </a:extLst>
                </a:hlinkClick>
              </a:rPr>
              <a:t>Complete ESP 32 Arduino IDE Setup &amp; Configuration Guide</a:t>
            </a:r>
          </a:p>
          <a:p>
            <a:pPr marL="274320" indent="-228600" algn="l">
              <a:lnSpc>
                <a:spcPts val="1127"/>
              </a:lnSpc>
              <a:spcAft>
                <a:spcPts val="1319"/>
              </a:spcAft>
              <a:buNone/>
            </a:pPr>
            <a:r>
              <a:rPr sz="1127" b="0" i="0">
                <a:solidFill>
                  <a:srgbClr val="2840E5"/>
                </a:solidFill>
                <a:latin typeface="Century Gothic"/>
              </a:rPr>
              <a:t>[5] 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6">
                  <a:extLst>
                    <a:ext uri="{A12FA001-AC4F-418D-AE19-62706E023703}">
                      <ns4:hlinkClr xmlns:ns4="http://schemas.microsoft.com/office/drawing/2018/hyperlinkcolor" val="tx"/>
                    </a:ext>
                  </a:extLst>
                </a:hlinkClick>
              </a:rPr>
              <a:t>Anna university hardware session plan.pdf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Rajavel, Nithish</dc:creator>
  <cp:keywords/>
  <dc:description>generated using python-pptx</dc:description>
  <cp:lastModifiedBy>Rajavel, Nithish</cp:lastModifiedBy>
  <cp:revision>1</cp:revision>
  <dcterms:created xsi:type="dcterms:W3CDTF">2026-09-05T09:21:17Z</dcterms:created>
  <dcterms:modified xsi:type="dcterms:W3CDTF">2026-09-05T09:21:17Z</dcterms:modified>
  <cp:category/>
</cp:coreProperties>
</file>